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Goal of this deck: (1) what the hardware delivers, (2) how it was measured, (3) what it means for the project plan. The headline is not the speed number - it is that the public dataset cannot take us further.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Hailo-8 vs Hailo-8L matters: Ultralytics defaults to the 8L and that .hef will not load on this board. The Mac is used only to train and export, because the LiteRT converter has no aarch64 wheel - it cannot run on the Pi.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Pi run went 61-&gt;80 C and drift hit +20.3% - position in the loop outweighed the runtime being measured. Every rule here exists because skipping it produced a wrong ranking at least once.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mAP50-95, never mAP50: on this split mAP50 saturates at 0.995 for almost every cell, so it reports every INT8 cell as free. OpenVINO INT8 at 167 ms is a 2.6x regression against its own FP32 - Arm executes quantised graphs in float simulation. Source: runs/bench_pi/results_480_poc_v2_matrix.csv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two-core result is the strongest argument for the accelerator and it is not about speed - it is about what the CPU is free to do. Soak is lower than the burst mainly because it cycles 263 images: cache locality, not thermal decay. A true sustained figure needs a fixed frame, which is what a camera delivers.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be honest on: we published a conclusion, the conclusion was wrong, and the earlier write-up had already named the reason to re-test. The ranking survives - LiteRT is still worst - but 'INT8 is dead' does not.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Zoom and input resolution were both ruled out by measurement, not assumed: a 40 mm screw is already at training scale at 0.28 m with no zoom, which is the PRD working distance. The hand-written preprocessing was also verified against the standard toolchain - IoU 0.82-0.95. So the pipeline was never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result the whole investigation was aiming at, and it arrived after the deck was drafted. Before: almost nothing detected, full-frame boxes on furniture. After: 12/12 with no false positives. Be honest in the room about two things - the class confusion is real and expected from the training counts, and the objects are on a white sheet, so the arena-floor case is still untested.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slide in the deck. It says the next step is not more benchmarking or more public data - it is collecting our own arena images, which PRD section 10 already specifies. Note also: once you train on 2,550 of FOD-A's frames, zero untouched images remain even 30 frames away from a training frame. There is no clean holdout left inside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here replaces a claim that was previously assumed or cited rather than measured. Three of them amend the PRD: FR-2 (image size), FR-1 (the NCNN INT8 and OpenVINO INT8 entries).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this: the benchmark work is finished and the answer is clear, but the thing standing between here and a working robot detector is data collection, and that needs the arena.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C27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1920240"/>
            <a:ext cx="10874959" cy="365760"/>
          </a:xfrm>
          <a:prstGeom prst="rect">
            <a:avLst/>
          </a:prstGeom>
          <a:noFill/>
        </p:spPr>
        <p:txBody>
          <a:bodyPr wrap="square" lIns="0" rIns="0" tIns="0" bIns="0">
            <a:spAutoFit/>
          </a:bodyPr>
          <a:lstStyle/>
          <a:p>
            <a:pPr algn="l">
              <a:lnSpc>
                <a:spcPct val="125000"/>
              </a:lnSpc>
              <a:spcAft>
                <a:spcPts val="600"/>
              </a:spcAft>
            </a:pPr>
            <a:r>
              <a:rPr sz="1300" b="1">
                <a:solidFill>
                  <a:srgbClr val="C2701C"/>
                </a:solidFill>
                <a:latin typeface="Arial"/>
              </a:rPr>
              <a:t>FOD ROBOT — COMPUTER VISION</a:t>
            </a:r>
          </a:p>
        </p:txBody>
      </p:sp>
      <p:sp>
        <p:nvSpPr>
          <p:cNvPr id="4" name="TextBox 3"/>
          <p:cNvSpPr txBox="1"/>
          <p:nvPr/>
        </p:nvSpPr>
        <p:spPr>
          <a:xfrm>
            <a:off x="658368" y="2148840"/>
            <a:ext cx="10874959" cy="1463040"/>
          </a:xfrm>
          <a:prstGeom prst="rect">
            <a:avLst/>
          </a:prstGeom>
          <a:noFill/>
        </p:spPr>
        <p:txBody>
          <a:bodyPr wrap="square" lIns="0" rIns="0" tIns="0" bIns="0">
            <a:spAutoFit/>
          </a:bodyPr>
          <a:lstStyle/>
          <a:p>
            <a:pPr algn="l">
              <a:lnSpc>
                <a:spcPct val="125000"/>
              </a:lnSpc>
              <a:spcAft>
                <a:spcPts val="600"/>
              </a:spcAft>
            </a:pPr>
            <a:r>
              <a:rPr sz="4200" b="1">
                <a:solidFill>
                  <a:srgbClr val="1A1D21"/>
                </a:solidFill>
                <a:latin typeface="Arial"/>
              </a:rPr>
              <a:t>Runtime benchmark and detection findings</a:t>
            </a:r>
          </a:p>
        </p:txBody>
      </p:sp>
      <p:sp>
        <p:nvSpPr>
          <p:cNvPr id="5" name="TextBox 4"/>
          <p:cNvSpPr txBox="1"/>
          <p:nvPr/>
        </p:nvSpPr>
        <p:spPr>
          <a:xfrm>
            <a:off x="658368" y="3703320"/>
            <a:ext cx="8595360" cy="1097280"/>
          </a:xfrm>
          <a:prstGeom prst="rect">
            <a:avLst/>
          </a:prstGeom>
          <a:noFill/>
        </p:spPr>
        <p:txBody>
          <a:bodyPr wrap="square" lIns="0" rIns="0" tIns="0" bIns="0">
            <a:spAutoFit/>
          </a:bodyPr>
          <a:lstStyle/>
          <a:p>
            <a:pPr algn="l">
              <a:lnSpc>
                <a:spcPct val="125000"/>
              </a:lnSpc>
              <a:spcAft>
                <a:spcPts val="600"/>
              </a:spcAft>
            </a:pPr>
            <a:r>
              <a:rPr sz="1900" b="0">
                <a:solidFill>
                  <a:srgbClr val="5F6763"/>
                </a:solidFill>
                <a:latin typeface="Arial"/>
              </a:rPr>
              <a:t>What the Pi 5 and Hailo-8 actually deliver, why live detection first failed, and what that changes about the plan.</a:t>
            </a:r>
          </a:p>
        </p:txBody>
      </p:sp>
      <p:sp>
        <p:nvSpPr>
          <p:cNvPr id="6" name="TextBox 5"/>
          <p:cNvSpPr txBox="1"/>
          <p:nvPr/>
        </p:nvSpPr>
        <p:spPr>
          <a:xfrm>
            <a:off x="658368" y="5394960"/>
            <a:ext cx="10874959" cy="731520"/>
          </a:xfrm>
          <a:prstGeom prst="rect">
            <a:avLst/>
          </a:prstGeom>
          <a:noFill/>
        </p:spPr>
        <p:txBody>
          <a:bodyPr wrap="square" lIns="0" rIns="0" tIns="0" bIns="0">
            <a:spAutoFit/>
          </a:bodyPr>
          <a:lstStyle/>
          <a:p>
            <a:pPr algn="l">
              <a:lnSpc>
                <a:spcPct val="125000"/>
              </a:lnSpc>
              <a:spcAft>
                <a:spcPts val="600"/>
              </a:spcAft>
            </a:pPr>
            <a:r>
              <a:rPr sz="1300" b="0">
                <a:solidFill>
                  <a:srgbClr val="1A1D21"/>
                </a:solidFill>
                <a:latin typeface="Arial"/>
              </a:rPr>
              <a:t>Proof-of-concept · measured on hardware · August 2026</a:t>
            </a:r>
          </a:p>
          <a:p>
            <a:pPr algn="l">
              <a:lnSpc>
                <a:spcPct val="125000"/>
              </a:lnSpc>
              <a:spcAft>
                <a:spcPts val="600"/>
              </a:spcAft>
            </a:pPr>
            <a:r>
              <a:rPr sz="1200" b="0">
                <a:solidFill>
                  <a:srgbClr val="5F6763"/>
                </a:solidFill>
                <a:latin typeface="Arial"/>
              </a:rPr>
              <a:t>All figures reproducible from runs/bench_pi/ in the project repository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spAutoFit/>
          </a:bodyPr>
          <a:lstStyle/>
          <a:p>
            <a:pPr algn="l">
              <a:lnSpc>
                <a:spcPct val="125000"/>
              </a:lnSpc>
              <a:spcAft>
                <a:spcPts val="600"/>
              </a:spcAft>
            </a:pPr>
            <a:r>
              <a:rPr sz="1100" b="1">
                <a:solidFill>
                  <a:srgbClr val="C2701C"/>
                </a:solidFill>
                <a:latin typeface="Arial"/>
              </a:rPr>
              <a:t>1 · ENVIRONMENT</a:t>
            </a:r>
          </a:p>
        </p:txBody>
      </p:sp>
      <p:sp>
        <p:nvSpPr>
          <p:cNvPr id="3" name="TextBox 2"/>
          <p:cNvSpPr txBox="1"/>
          <p:nvPr/>
        </p:nvSpPr>
        <p:spPr>
          <a:xfrm>
            <a:off x="658368" y="713232"/>
            <a:ext cx="10874959" cy="640080"/>
          </a:xfrm>
          <a:prstGeom prst="rect">
            <a:avLst/>
          </a:prstGeom>
          <a:noFill/>
        </p:spPr>
        <p:txBody>
          <a:bodyPr wrap="square" lIns="0" rIns="0" tIns="0" bIns="0">
            <a:spAutoFit/>
          </a:bodyPr>
          <a:lstStyle/>
          <a:p>
            <a:pPr algn="l">
              <a:lnSpc>
                <a:spcPct val="125000"/>
              </a:lnSpc>
              <a:spcAft>
                <a:spcPts val="600"/>
              </a:spcAft>
            </a:pPr>
            <a:r>
              <a:rPr sz="3000" b="1">
                <a:solidFill>
                  <a:srgbClr val="1A1D21"/>
                </a:solidFill>
                <a:latin typeface="Arial"/>
              </a:rPr>
              <a:t>The hardware under test</a:t>
            </a:r>
          </a:p>
        </p:txBody>
      </p:sp>
      <p:sp>
        <p:nvSpPr>
          <p:cNvPr id="4" name="TextBox 3"/>
          <p:cNvSpPr txBox="1"/>
          <p:nvPr/>
        </p:nvSpPr>
        <p:spPr>
          <a:xfrm>
            <a:off x="658368" y="1389888"/>
            <a:ext cx="10874959" cy="411480"/>
          </a:xfrm>
          <a:prstGeom prst="rect">
            <a:avLst/>
          </a:prstGeom>
          <a:noFill/>
        </p:spPr>
        <p:txBody>
          <a:bodyPr wrap="square" lIns="0" rIns="0" tIns="0" bIns="0">
            <a:spAutoFit/>
          </a:bodyPr>
          <a:lstStyle/>
          <a:p>
            <a:pPr algn="l">
              <a:lnSpc>
                <a:spcPct val="125000"/>
              </a:lnSpc>
              <a:spcAft>
                <a:spcPts val="600"/>
              </a:spcAft>
            </a:pPr>
            <a:r>
              <a:rPr sz="1500" b="0">
                <a:solidFill>
                  <a:srgbClr val="5F6763"/>
                </a:solidFill>
                <a:latin typeface="Arial"/>
              </a:rPr>
              <a:t>Every number in this deck was measured on this board. Nothing is cited.</a:t>
            </a:r>
          </a:p>
        </p:txBody>
      </p:sp>
      <p:sp>
        <p:nvSpPr>
          <p:cNvPr id="5" name="Rectangle 4"/>
          <p:cNvSpPr/>
          <p:nvPr/>
        </p:nvSpPr>
        <p:spPr>
          <a:xfrm>
            <a:off x="658368" y="1847088"/>
            <a:ext cx="10874959" cy="15240"/>
          </a:xfrm>
          <a:prstGeom prst="rect">
            <a:avLst/>
          </a:prstGeom>
          <a:solidFill>
            <a:srgbClr val="D8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2084832"/>
          <a:ext cx="10881360" cy="2011680"/>
        </p:xfrm>
        <a:graphic>
          <a:graphicData uri="http://schemas.openxmlformats.org/drawingml/2006/table">
            <a:tbl>
              <a:tblPr firstRow="1" bandRow="1">
                <a:tableStyleId>{5C22544A-7EE6-4342-B048-85BDC9FD1C3A}</a:tableStyleId>
              </a:tblPr>
              <a:tblGrid>
                <a:gridCol w="1828800"/>
                <a:gridCol w="9052560"/>
              </a:tblGrid>
              <a:tr h="310896">
                <a:tc>
                  <a:txBody>
                    <a:bodyPr/>
                    <a:lstStyle/>
                    <a:p>
                      <a:pPr algn="l"/>
                      <a:r>
                        <a:rPr sz="1300" b="1">
                          <a:solidFill>
                            <a:srgbClr val="FFFFFF"/>
                          </a:solidFill>
                          <a:latin typeface="Arial"/>
                        </a:rPr>
                        <a:t>Component</a:t>
                      </a:r>
                    </a:p>
                  </a:txBody>
                  <a:tcPr anchor="ctr" marL="73152" marR="73152" marT="0" marB="0">
                    <a:solidFill>
                      <a:srgbClr val="1A1D21"/>
                    </a:solidFill>
                  </a:tcPr>
                </a:tc>
                <a:tc>
                  <a:txBody>
                    <a:bodyPr/>
                    <a:lstStyle/>
                    <a:p>
                      <a:pPr algn="l"/>
                      <a:r>
                        <a:rPr sz="1300" b="1">
                          <a:solidFill>
                            <a:srgbClr val="FFFFFF"/>
                          </a:solidFill>
                          <a:latin typeface="Arial"/>
                        </a:rPr>
                        <a:t>Specification</a:t>
                      </a:r>
                    </a:p>
                  </a:txBody>
                  <a:tcPr anchor="ctr" marL="73152" marR="73152" marT="0" marB="0">
                    <a:solidFill>
                      <a:srgbClr val="1A1D21"/>
                    </a:solidFill>
                  </a:tcPr>
                </a:tc>
              </a:tr>
              <a:tr h="283464">
                <a:tc>
                  <a:txBody>
                    <a:bodyPr/>
                    <a:lstStyle/>
                    <a:p>
                      <a:pPr algn="l"/>
                      <a:r>
                        <a:rPr sz="1400" b="0">
                          <a:solidFill>
                            <a:srgbClr val="1A1D21"/>
                          </a:solidFill>
                          <a:latin typeface="Arial"/>
                        </a:rPr>
                        <a:t>Compute</a:t>
                      </a:r>
                    </a:p>
                  </a:txBody>
                  <a:tcPr anchor="ctr" marL="73152" marR="73152" marT="0" marB="0">
                    <a:solidFill>
                      <a:srgbClr val="FFFFFF"/>
                    </a:solidFill>
                  </a:tcPr>
                </a:tc>
                <a:tc>
                  <a:txBody>
                    <a:bodyPr/>
                    <a:lstStyle/>
                    <a:p>
                      <a:pPr algn="l"/>
                      <a:r>
                        <a:rPr sz="1400" b="0">
                          <a:solidFill>
                            <a:srgbClr val="1A1D21"/>
                          </a:solidFill>
                          <a:latin typeface="Consolas"/>
                        </a:rPr>
                        <a:t>Raspberry Pi 5 Model B - Cortex-A76 4-core @ 2.4 GHz, Active Cooler</a:t>
                      </a:r>
                    </a:p>
                  </a:txBody>
                  <a:tcPr anchor="ctr" marL="73152" marR="73152" marT="0" marB="0">
                    <a:solidFill>
                      <a:srgbClr val="FFFFFF"/>
                    </a:solidFill>
                  </a:tcPr>
                </a:tc>
              </a:tr>
              <a:tr h="283464">
                <a:tc>
                  <a:txBody>
                    <a:bodyPr/>
                    <a:lstStyle/>
                    <a:p>
                      <a:pPr algn="l"/>
                      <a:r>
                        <a:rPr sz="1400" b="0">
                          <a:solidFill>
                            <a:srgbClr val="1A1D21"/>
                          </a:solidFill>
                          <a:latin typeface="Arial"/>
                        </a:rPr>
                        <a:t>Accelerator</a:t>
                      </a:r>
                    </a:p>
                  </a:txBody>
                  <a:tcPr anchor="ctr" marL="73152" marR="73152" marT="0" marB="0">
                    <a:solidFill>
                      <a:srgbClr val="F2F3F1"/>
                    </a:solidFill>
                  </a:tcPr>
                </a:tc>
                <a:tc>
                  <a:txBody>
                    <a:bodyPr/>
                    <a:lstStyle/>
                    <a:p>
                      <a:pPr algn="l"/>
                      <a:r>
                        <a:rPr sz="1400" b="0">
                          <a:solidFill>
                            <a:srgbClr val="1A1D21"/>
                          </a:solidFill>
                          <a:latin typeface="Consolas"/>
                        </a:rPr>
                        <a:t>Hailo-8 on dual M.2 HAT - 26 TOPS (not the 13-TOPS Hailo-8L)</a:t>
                      </a:r>
                    </a:p>
                  </a:txBody>
                  <a:tcPr anchor="ctr" marL="73152" marR="73152" marT="0" marB="0">
                    <a:solidFill>
                      <a:srgbClr val="F2F3F1"/>
                    </a:solidFill>
                  </a:tcPr>
                </a:tc>
              </a:tr>
              <a:tr h="283464">
                <a:tc>
                  <a:txBody>
                    <a:bodyPr/>
                    <a:lstStyle/>
                    <a:p>
                      <a:pPr algn="l"/>
                      <a:r>
                        <a:rPr sz="1400" b="0">
                          <a:solidFill>
                            <a:srgbClr val="1A1D21"/>
                          </a:solidFill>
                          <a:latin typeface="Arial"/>
                        </a:rPr>
                        <a:t>Camera</a:t>
                      </a:r>
                    </a:p>
                  </a:txBody>
                  <a:tcPr anchor="ctr" marL="73152" marR="73152" marT="0" marB="0">
                    <a:solidFill>
                      <a:srgbClr val="FFFFFF"/>
                    </a:solidFill>
                  </a:tcPr>
                </a:tc>
                <a:tc>
                  <a:txBody>
                    <a:bodyPr/>
                    <a:lstStyle/>
                    <a:p>
                      <a:pPr algn="l"/>
                      <a:r>
                        <a:rPr sz="1400" b="0">
                          <a:solidFill>
                            <a:srgbClr val="1A1D21"/>
                          </a:solidFill>
                          <a:latin typeface="Consolas"/>
                        </a:rPr>
                        <a:t>Camera Module 3 (imx708) - 4608x2592, 66 deg lens, autofocus</a:t>
                      </a:r>
                    </a:p>
                  </a:txBody>
                  <a:tcPr anchor="ctr" marL="73152" marR="73152" marT="0" marB="0">
                    <a:solidFill>
                      <a:srgbClr val="FFFFFF"/>
                    </a:solidFill>
                  </a:tcPr>
                </a:tc>
              </a:tr>
              <a:tr h="283464">
                <a:tc>
                  <a:txBody>
                    <a:bodyPr/>
                    <a:lstStyle/>
                    <a:p>
                      <a:pPr algn="l"/>
                      <a:r>
                        <a:rPr sz="1400" b="0">
                          <a:solidFill>
                            <a:srgbClr val="1A1D21"/>
                          </a:solidFill>
                          <a:latin typeface="Arial"/>
                        </a:rPr>
                        <a:t>Storage</a:t>
                      </a:r>
                    </a:p>
                  </a:txBody>
                  <a:tcPr anchor="ctr" marL="73152" marR="73152" marT="0" marB="0">
                    <a:solidFill>
                      <a:srgbClr val="F2F3F1"/>
                    </a:solidFill>
                  </a:tcPr>
                </a:tc>
                <a:tc>
                  <a:txBody>
                    <a:bodyPr/>
                    <a:lstStyle/>
                    <a:p>
                      <a:pPr algn="l"/>
                      <a:r>
                        <a:rPr sz="1400" b="0">
                          <a:solidFill>
                            <a:srgbClr val="1A1D21"/>
                          </a:solidFill>
                          <a:latin typeface="Consolas"/>
                        </a:rPr>
                        <a:t>NVMe SSD on the shared PCIe link</a:t>
                      </a:r>
                    </a:p>
                  </a:txBody>
                  <a:tcPr anchor="ctr" marL="73152" marR="73152" marT="0" marB="0">
                    <a:solidFill>
                      <a:srgbClr val="F2F3F1"/>
                    </a:solidFill>
                  </a:tcPr>
                </a:tc>
              </a:tr>
              <a:tr h="283464">
                <a:tc>
                  <a:txBody>
                    <a:bodyPr/>
                    <a:lstStyle/>
                    <a:p>
                      <a:pPr algn="l"/>
                      <a:r>
                        <a:rPr sz="1400" b="0">
                          <a:solidFill>
                            <a:srgbClr val="1A1D21"/>
                          </a:solidFill>
                          <a:latin typeface="Arial"/>
                        </a:rPr>
                        <a:t>Model</a:t>
                      </a:r>
                    </a:p>
                  </a:txBody>
                  <a:tcPr anchor="ctr" marL="73152" marR="73152" marT="0" marB="0">
                    <a:solidFill>
                      <a:srgbClr val="FFFFFF"/>
                    </a:solidFill>
                  </a:tcPr>
                </a:tc>
                <a:tc>
                  <a:txBody>
                    <a:bodyPr/>
                    <a:lstStyle/>
                    <a:p>
                      <a:pPr algn="l"/>
                      <a:r>
                        <a:rPr sz="1400" b="0">
                          <a:solidFill>
                            <a:srgbClr val="1A1D21"/>
                          </a:solidFill>
                          <a:latin typeface="Consolas"/>
                        </a:rPr>
                        <a:t>YOLO11n, 4 classes, deployed at 480x480</a:t>
                      </a:r>
                    </a:p>
                  </a:txBody>
                  <a:tcPr anchor="ctr" marL="73152" marR="73152" marT="0" marB="0">
                    <a:solidFill>
                      <a:srgbClr val="FFFFFF"/>
                    </a:solidFill>
                  </a:tcPr>
                </a:tc>
              </a:tr>
              <a:tr h="283464">
                <a:tc>
                  <a:txBody>
                    <a:bodyPr/>
                    <a:lstStyle/>
                    <a:p>
                      <a:pPr algn="l"/>
                      <a:r>
                        <a:rPr sz="1400" b="0">
                          <a:solidFill>
                            <a:srgbClr val="1A1D21"/>
                          </a:solidFill>
                          <a:latin typeface="Arial"/>
                        </a:rPr>
                        <a:t>Build host</a:t>
                      </a:r>
                    </a:p>
                  </a:txBody>
                  <a:tcPr anchor="ctr" marL="73152" marR="73152" marT="0" marB="0">
                    <a:solidFill>
                      <a:srgbClr val="F2F3F1"/>
                    </a:solidFill>
                  </a:tcPr>
                </a:tc>
                <a:tc>
                  <a:txBody>
                    <a:bodyPr/>
                    <a:lstStyle/>
                    <a:p>
                      <a:pPr algn="l"/>
                      <a:r>
                        <a:rPr sz="1400" b="0">
                          <a:solidFill>
                            <a:srgbClr val="1A1D21"/>
                          </a:solidFill>
                          <a:latin typeface="Consolas"/>
                        </a:rPr>
                        <a:t>Apple M4 - training and export only</a:t>
                      </a:r>
                    </a:p>
                  </a:txBody>
                  <a:tcPr anchor="ctr" marL="73152" marR="73152" marT="0" marB="0">
                    <a:solidFill>
                      <a:srgbClr val="F2F3F1"/>
                    </a:solidFill>
                  </a:tcPr>
                </a:tc>
              </a:tr>
            </a:tbl>
          </a:graphicData>
        </a:graphic>
      </p:graphicFrame>
      <p:sp>
        <p:nvSpPr>
          <p:cNvPr id="7" name="TextBox 6"/>
          <p:cNvSpPr txBox="1"/>
          <p:nvPr/>
        </p:nvSpPr>
        <p:spPr>
          <a:xfrm>
            <a:off x="658368" y="5074920"/>
            <a:ext cx="10874959" cy="1097280"/>
          </a:xfrm>
          <a:prstGeom prst="rect">
            <a:avLst/>
          </a:prstGeom>
          <a:noFill/>
        </p:spPr>
        <p:txBody>
          <a:bodyPr wrap="square" lIns="0" rIns="0" tIns="0" bIns="0">
            <a:spAutoFit/>
          </a:bodyPr>
          <a:lstStyle/>
          <a:p>
            <a:pPr algn="l">
              <a:lnSpc>
                <a:spcPct val="125000"/>
              </a:lnSpc>
              <a:spcAft>
                <a:spcPts val="600"/>
              </a:spcAft>
            </a:pPr>
            <a:r>
              <a:rPr sz="1600" b="1">
                <a:solidFill>
                  <a:srgbClr val="1A1D21"/>
                </a:solidFill>
                <a:latin typeface="Arial"/>
              </a:rPr>
              <a:t>The accelerator is a measurement, not yet a decision.</a:t>
            </a:r>
          </a:p>
          <a:p>
            <a:pPr algn="l">
              <a:lnSpc>
                <a:spcPct val="125000"/>
              </a:lnSpc>
              <a:spcAft>
                <a:spcPts val="600"/>
              </a:spcAft>
            </a:pPr>
            <a:r>
              <a:rPr sz="1400" b="0">
                <a:solidFill>
                  <a:srgbClr val="5F6763"/>
                </a:solidFill>
                <a:latin typeface="Arial"/>
              </a:rPr>
              <a:t>PRD v2 commits to Pi 5 CPU-only; adopting the Hailo-8 is a BOM change gated on advisor sign-off. No Apple M4 figure appears anywhere in this deck - it does not transfer to Arm.</a:t>
            </a:r>
          </a:p>
        </p:txBody>
      </p:sp>
      <p:sp>
        <p:nvSpPr>
          <p:cNvPr id="8" name="TextBox 7"/>
          <p:cNvSpPr txBox="1"/>
          <p:nvPr/>
        </p:nvSpPr>
        <p:spPr>
          <a:xfrm>
            <a:off x="11002975" y="6382512"/>
            <a:ext cx="548640" cy="274320"/>
          </a:xfrm>
          <a:prstGeom prst="rect">
            <a:avLst/>
          </a:prstGeom>
          <a:noFill/>
        </p:spPr>
        <p:txBody>
          <a:bodyPr wrap="square" lIns="0" rIns="0" tIns="0" bIns="0">
            <a:spAutoFit/>
          </a:bodyPr>
          <a:lstStyle/>
          <a:p>
            <a:pPr algn="r">
              <a:lnSpc>
                <a:spcPct val="125000"/>
              </a:lnSpc>
              <a:spcAft>
                <a:spcPts val="600"/>
              </a:spcAft>
            </a:pPr>
            <a:r>
              <a:rPr sz="1100" b="0">
                <a:solidFill>
                  <a:srgbClr val="5F6763"/>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spAutoFit/>
          </a:bodyPr>
          <a:lstStyle/>
          <a:p>
            <a:pPr algn="l">
              <a:lnSpc>
                <a:spcPct val="125000"/>
              </a:lnSpc>
              <a:spcAft>
                <a:spcPts val="600"/>
              </a:spcAft>
            </a:pPr>
            <a:r>
              <a:rPr sz="1100" b="1">
                <a:solidFill>
                  <a:srgbClr val="C2701C"/>
                </a:solidFill>
                <a:latin typeface="Arial"/>
              </a:rPr>
              <a:t>2 · METHOD</a:t>
            </a:r>
          </a:p>
        </p:txBody>
      </p:sp>
      <p:sp>
        <p:nvSpPr>
          <p:cNvPr id="3" name="TextBox 2"/>
          <p:cNvSpPr txBox="1"/>
          <p:nvPr/>
        </p:nvSpPr>
        <p:spPr>
          <a:xfrm>
            <a:off x="658368" y="713232"/>
            <a:ext cx="10874959" cy="640080"/>
          </a:xfrm>
          <a:prstGeom prst="rect">
            <a:avLst/>
          </a:prstGeom>
          <a:noFill/>
        </p:spPr>
        <p:txBody>
          <a:bodyPr wrap="square" lIns="0" rIns="0" tIns="0" bIns="0">
            <a:spAutoFit/>
          </a:bodyPr>
          <a:lstStyle/>
          <a:p>
            <a:pPr algn="l">
              <a:lnSpc>
                <a:spcPct val="125000"/>
              </a:lnSpc>
              <a:spcAft>
                <a:spcPts val="600"/>
              </a:spcAft>
            </a:pPr>
            <a:r>
              <a:rPr sz="3000" b="1">
                <a:solidFill>
                  <a:srgbClr val="1A1D21"/>
                </a:solidFill>
                <a:latin typeface="Arial"/>
              </a:rPr>
              <a:t>How it was measured</a:t>
            </a:r>
          </a:p>
        </p:txBody>
      </p:sp>
      <p:sp>
        <p:nvSpPr>
          <p:cNvPr id="4" name="TextBox 3"/>
          <p:cNvSpPr txBox="1"/>
          <p:nvPr/>
        </p:nvSpPr>
        <p:spPr>
          <a:xfrm>
            <a:off x="658368" y="1389888"/>
            <a:ext cx="10874959" cy="411480"/>
          </a:xfrm>
          <a:prstGeom prst="rect">
            <a:avLst/>
          </a:prstGeom>
          <a:noFill/>
        </p:spPr>
        <p:txBody>
          <a:bodyPr wrap="square" lIns="0" rIns="0" tIns="0" bIns="0">
            <a:spAutoFit/>
          </a:bodyPr>
          <a:lstStyle/>
          <a:p>
            <a:pPr algn="l">
              <a:lnSpc>
                <a:spcPct val="125000"/>
              </a:lnSpc>
              <a:spcAft>
                <a:spcPts val="600"/>
              </a:spcAft>
            </a:pPr>
            <a:r>
              <a:rPr sz="1500" b="0">
                <a:solidFill>
                  <a:srgbClr val="5F6763"/>
                </a:solidFill>
                <a:latin typeface="Arial"/>
              </a:rPr>
              <a:t>Two things decide whether a benchmark means anything: the split, and the board.</a:t>
            </a:r>
          </a:p>
        </p:txBody>
      </p:sp>
      <p:sp>
        <p:nvSpPr>
          <p:cNvPr id="5" name="Rectangle 4"/>
          <p:cNvSpPr/>
          <p:nvPr/>
        </p:nvSpPr>
        <p:spPr>
          <a:xfrm>
            <a:off x="658368" y="1847088"/>
            <a:ext cx="10874959" cy="15240"/>
          </a:xfrm>
          <a:prstGeom prst="rect">
            <a:avLst/>
          </a:prstGeom>
          <a:solidFill>
            <a:srgbClr val="D8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084832"/>
            <a:ext cx="5486400" cy="320040"/>
          </a:xfrm>
          <a:prstGeom prst="rect">
            <a:avLst/>
          </a:prstGeom>
          <a:noFill/>
        </p:spPr>
        <p:txBody>
          <a:bodyPr wrap="square" lIns="0" rIns="0" tIns="0" bIns="0">
            <a:spAutoFit/>
          </a:bodyPr>
          <a:lstStyle/>
          <a:p>
            <a:pPr algn="l">
              <a:lnSpc>
                <a:spcPct val="125000"/>
              </a:lnSpc>
              <a:spcAft>
                <a:spcPts val="600"/>
              </a:spcAft>
            </a:pPr>
            <a:r>
              <a:rPr sz="1600" b="1">
                <a:solidFill>
                  <a:srgbClr val="1A1D21"/>
                </a:solidFill>
                <a:latin typeface="Arial"/>
              </a:rPr>
              <a:t>Datasets - three splits, three jobs</a:t>
            </a:r>
          </a:p>
        </p:txBody>
      </p:sp>
      <p:graphicFrame>
        <p:nvGraphicFramePr>
          <p:cNvPr id="7" name="Table 6"/>
          <p:cNvGraphicFramePr>
            <a:graphicFrameLocks noGrp="1"/>
          </p:cNvGraphicFramePr>
          <p:nvPr/>
        </p:nvGraphicFramePr>
        <p:xfrm>
          <a:off x="658368" y="2468880"/>
          <a:ext cx="5486400" cy="1161288"/>
        </p:xfrm>
        <a:graphic>
          <a:graphicData uri="http://schemas.openxmlformats.org/drawingml/2006/table">
            <a:tbl>
              <a:tblPr firstRow="1" bandRow="1">
                <a:tableStyleId>{5C22544A-7EE6-4342-B048-85BDC9FD1C3A}</a:tableStyleId>
              </a:tblPr>
              <a:tblGrid>
                <a:gridCol w="1645920"/>
                <a:gridCol w="1371600"/>
                <a:gridCol w="2468880"/>
              </a:tblGrid>
              <a:tr h="310896">
                <a:tc>
                  <a:txBody>
                    <a:bodyPr/>
                    <a:lstStyle/>
                    <a:p>
                      <a:pPr algn="l"/>
                      <a:r>
                        <a:rPr sz="1100" b="1">
                          <a:solidFill>
                            <a:srgbClr val="FFFFFF"/>
                          </a:solidFill>
                          <a:latin typeface="Arial"/>
                        </a:rPr>
                        <a:t>Split</a:t>
                      </a:r>
                    </a:p>
                  </a:txBody>
                  <a:tcPr anchor="ctr" marL="73152" marR="73152" marT="0" marB="0">
                    <a:solidFill>
                      <a:srgbClr val="1A1D21"/>
                    </a:solidFill>
                  </a:tcPr>
                </a:tc>
                <a:tc>
                  <a:txBody>
                    <a:bodyPr/>
                    <a:lstStyle/>
                    <a:p>
                      <a:pPr algn="l"/>
                      <a:r>
                        <a:rPr sz="1100" b="1">
                          <a:solidFill>
                            <a:srgbClr val="FFFFFF"/>
                          </a:solidFill>
                          <a:latin typeface="Arial"/>
                        </a:rPr>
                        <a:t>Size</a:t>
                      </a:r>
                    </a:p>
                  </a:txBody>
                  <a:tcPr anchor="ctr" marL="73152" marR="73152" marT="0" marB="0">
                    <a:solidFill>
                      <a:srgbClr val="1A1D21"/>
                    </a:solidFill>
                  </a:tcPr>
                </a:tc>
                <a:tc>
                  <a:txBody>
                    <a:bodyPr/>
                    <a:lstStyle/>
                    <a:p>
                      <a:pPr algn="l"/>
                      <a:r>
                        <a:rPr sz="1100" b="1">
                          <a:solidFill>
                            <a:srgbClr val="FFFFFF"/>
                          </a:solidFill>
                          <a:latin typeface="Arial"/>
                        </a:rPr>
                        <a:t>Used for</a:t>
                      </a:r>
                    </a:p>
                  </a:txBody>
                  <a:tcPr anchor="ctr" marL="73152" marR="73152" marT="0" marB="0">
                    <a:solidFill>
                      <a:srgbClr val="1A1D21"/>
                    </a:solidFill>
                  </a:tcPr>
                </a:tc>
              </a:tr>
              <a:tr h="283464">
                <a:tc>
                  <a:txBody>
                    <a:bodyPr/>
                    <a:lstStyle/>
                    <a:p>
                      <a:pPr algn="l"/>
                      <a:r>
                        <a:rPr sz="1200" b="0">
                          <a:solidFill>
                            <a:srgbClr val="1A1D21"/>
                          </a:solidFill>
                          <a:latin typeface="Arial"/>
                        </a:rPr>
                        <a:t>fod-a</a:t>
                      </a:r>
                    </a:p>
                  </a:txBody>
                  <a:tcPr anchor="ctr" marL="73152" marR="73152" marT="0" marB="0">
                    <a:solidFill>
                      <a:srgbClr val="FFFFFF"/>
                    </a:solidFill>
                  </a:tcPr>
                </a:tc>
                <a:tc>
                  <a:txBody>
                    <a:bodyPr/>
                    <a:lstStyle/>
                    <a:p>
                      <a:pPr algn="r"/>
                      <a:r>
                        <a:rPr sz="1200" b="0">
                          <a:solidFill>
                            <a:srgbClr val="1A1D21"/>
                          </a:solidFill>
                          <a:latin typeface="Consolas"/>
                        </a:rPr>
                        <a:t>510 / 90</a:t>
                      </a:r>
                    </a:p>
                  </a:txBody>
                  <a:tcPr anchor="ctr" marL="73152" marR="73152" marT="0" marB="0">
                    <a:solidFill>
                      <a:srgbClr val="FFFFFF"/>
                    </a:solidFill>
                  </a:tcPr>
                </a:tc>
                <a:tc>
                  <a:txBody>
                    <a:bodyPr/>
                    <a:lstStyle/>
                    <a:p>
                      <a:pPr algn="l"/>
                      <a:r>
                        <a:rPr sz="1200" b="0">
                          <a:solidFill>
                            <a:srgbClr val="1A1D21"/>
                          </a:solidFill>
                          <a:latin typeface="Consolas"/>
                        </a:rPr>
                        <a:t>the v1 model</a:t>
                      </a:r>
                    </a:p>
                  </a:txBody>
                  <a:tcPr anchor="ctr" marL="73152" marR="73152" marT="0" marB="0">
                    <a:solidFill>
                      <a:srgbClr val="FFFFFF"/>
                    </a:solidFill>
                  </a:tcPr>
                </a:tc>
              </a:tr>
              <a:tr h="283464">
                <a:tc>
                  <a:txBody>
                    <a:bodyPr/>
                    <a:lstStyle/>
                    <a:p>
                      <a:pPr algn="l"/>
                      <a:r>
                        <a:rPr sz="1200" b="0">
                          <a:solidFill>
                            <a:srgbClr val="1A1D21"/>
                          </a:solidFill>
                          <a:latin typeface="Arial"/>
                        </a:rPr>
                        <a:t>fod-a-3k</a:t>
                      </a:r>
                    </a:p>
                  </a:txBody>
                  <a:tcPr anchor="ctr" marL="73152" marR="73152" marT="0" marB="0">
                    <a:solidFill>
                      <a:srgbClr val="F2F3F1"/>
                    </a:solidFill>
                  </a:tcPr>
                </a:tc>
                <a:tc>
                  <a:txBody>
                    <a:bodyPr/>
                    <a:lstStyle/>
                    <a:p>
                      <a:pPr algn="r"/>
                      <a:r>
                        <a:rPr sz="1200" b="0">
                          <a:solidFill>
                            <a:srgbClr val="1A1D21"/>
                          </a:solidFill>
                          <a:latin typeface="Consolas"/>
                        </a:rPr>
                        <a:t>2,550 / 450</a:t>
                      </a:r>
                    </a:p>
                  </a:txBody>
                  <a:tcPr anchor="ctr" marL="73152" marR="73152" marT="0" marB="0">
                    <a:solidFill>
                      <a:srgbClr val="F2F3F1"/>
                    </a:solidFill>
                  </a:tcPr>
                </a:tc>
                <a:tc>
                  <a:txBody>
                    <a:bodyPr/>
                    <a:lstStyle/>
                    <a:p>
                      <a:pPr algn="l"/>
                      <a:r>
                        <a:rPr sz="1200" b="0">
                          <a:solidFill>
                            <a:srgbClr val="1A1D21"/>
                          </a:solidFill>
                          <a:latin typeface="Consolas"/>
                        </a:rPr>
                        <a:t>training v2 only</a:t>
                      </a:r>
                    </a:p>
                  </a:txBody>
                  <a:tcPr anchor="ctr" marL="73152" marR="73152" marT="0" marB="0">
                    <a:solidFill>
                      <a:srgbClr val="F2F3F1"/>
                    </a:solidFill>
                  </a:tcPr>
                </a:tc>
              </a:tr>
              <a:tr h="283464">
                <a:tc>
                  <a:txBody>
                    <a:bodyPr/>
                    <a:lstStyle/>
                    <a:p>
                      <a:pPr algn="l"/>
                      <a:r>
                        <a:rPr sz="1200" b="0">
                          <a:solidFill>
                            <a:srgbClr val="1A1D21"/>
                          </a:solidFill>
                          <a:latin typeface="Arial"/>
                        </a:rPr>
                        <a:t>fod-a-clean</a:t>
                      </a:r>
                    </a:p>
                  </a:txBody>
                  <a:tcPr anchor="ctr" marL="73152" marR="73152" marT="0" marB="0">
                    <a:solidFill>
                      <a:srgbClr val="FFFFFF"/>
                    </a:solidFill>
                  </a:tcPr>
                </a:tc>
                <a:tc>
                  <a:txBody>
                    <a:bodyPr/>
                    <a:lstStyle/>
                    <a:p>
                      <a:pPr algn="l"/>
                      <a:r>
                        <a:rPr sz="1200" b="0">
                          <a:solidFill>
                            <a:srgbClr val="1A1D21"/>
                          </a:solidFill>
                          <a:latin typeface="Consolas"/>
                        </a:rPr>
                        <a:t>263 val</a:t>
                      </a:r>
                    </a:p>
                  </a:txBody>
                  <a:tcPr anchor="ctr" marL="73152" marR="73152" marT="0" marB="0">
                    <a:solidFill>
                      <a:srgbClr val="FFFFFF"/>
                    </a:solidFill>
                  </a:tcPr>
                </a:tc>
                <a:tc>
                  <a:txBody>
                    <a:bodyPr/>
                    <a:lstStyle/>
                    <a:p>
                      <a:pPr algn="l"/>
                      <a:r>
                        <a:rPr sz="1200" b="0">
                          <a:solidFill>
                            <a:srgbClr val="1A1D21"/>
                          </a:solidFill>
                          <a:latin typeface="Consolas"/>
                        </a:rPr>
                        <a:t>ALL scoring here</a:t>
                      </a:r>
                    </a:p>
                  </a:txBody>
                  <a:tcPr anchor="ctr" marL="73152" marR="73152" marT="0" marB="0">
                    <a:solidFill>
                      <a:srgbClr val="FFFFFF"/>
                    </a:solidFill>
                  </a:tcPr>
                </a:tc>
              </a:tr>
            </a:tbl>
          </a:graphicData>
        </a:graphic>
      </p:graphicFrame>
      <p:sp>
        <p:nvSpPr>
          <p:cNvPr id="8" name="TextBox 7"/>
          <p:cNvSpPr txBox="1"/>
          <p:nvPr/>
        </p:nvSpPr>
        <p:spPr>
          <a:xfrm>
            <a:off x="658368" y="3959351"/>
            <a:ext cx="5486400" cy="914400"/>
          </a:xfrm>
          <a:prstGeom prst="rect">
            <a:avLst/>
          </a:prstGeom>
          <a:noFill/>
        </p:spPr>
        <p:txBody>
          <a:bodyPr wrap="square" lIns="0" rIns="0" tIns="0" bIns="0">
            <a:spAutoFit/>
          </a:bodyPr>
          <a:lstStyle/>
          <a:p>
            <a:pPr algn="l">
              <a:lnSpc>
                <a:spcPct val="125000"/>
              </a:lnSpc>
              <a:spcAft>
                <a:spcPts val="600"/>
              </a:spcAft>
            </a:pPr>
            <a:r>
              <a:rPr sz="1300" b="0">
                <a:solidFill>
                  <a:srgbClr val="5F6763"/>
                </a:solidFill>
                <a:latin typeface="Arial"/>
              </a:rPr>
              <a:t>fod-a-clean holds only scenes that contributed no training frame to either model - the reason appears on slide 8.</a:t>
            </a:r>
          </a:p>
        </p:txBody>
      </p:sp>
      <p:sp>
        <p:nvSpPr>
          <p:cNvPr id="9" name="TextBox 8"/>
          <p:cNvSpPr txBox="1"/>
          <p:nvPr/>
        </p:nvSpPr>
        <p:spPr>
          <a:xfrm>
            <a:off x="6693408" y="2084832"/>
            <a:ext cx="4846320" cy="320040"/>
          </a:xfrm>
          <a:prstGeom prst="rect">
            <a:avLst/>
          </a:prstGeom>
          <a:noFill/>
        </p:spPr>
        <p:txBody>
          <a:bodyPr wrap="square" lIns="0" rIns="0" tIns="0" bIns="0">
            <a:spAutoFit/>
          </a:bodyPr>
          <a:lstStyle/>
          <a:p>
            <a:pPr algn="l">
              <a:lnSpc>
                <a:spcPct val="125000"/>
              </a:lnSpc>
              <a:spcAft>
                <a:spcPts val="600"/>
              </a:spcAft>
            </a:pPr>
            <a:r>
              <a:rPr sz="1600" b="1">
                <a:solidFill>
                  <a:srgbClr val="1A1D21"/>
                </a:solidFill>
                <a:latin typeface="Arial"/>
              </a:rPr>
              <a:t>Board control - all five required</a:t>
            </a:r>
          </a:p>
        </p:txBody>
      </p:sp>
      <p:sp>
        <p:nvSpPr>
          <p:cNvPr id="10" name="TextBox 9"/>
          <p:cNvSpPr txBox="1"/>
          <p:nvPr/>
        </p:nvSpPr>
        <p:spPr>
          <a:xfrm>
            <a:off x="6693408" y="2496312"/>
            <a:ext cx="4846320" cy="1828800"/>
          </a:xfrm>
          <a:prstGeom prst="rect">
            <a:avLst/>
          </a:prstGeom>
          <a:noFill/>
        </p:spPr>
        <p:txBody>
          <a:bodyPr wrap="square" lIns="0" rIns="0" tIns="0" bIns="0">
            <a:spAutoFit/>
          </a:bodyPr>
          <a:lstStyle/>
          <a:p>
            <a:pPr algn="l">
              <a:lnSpc>
                <a:spcPct val="125000"/>
              </a:lnSpc>
              <a:spcAft>
                <a:spcPts val="900"/>
              </a:spcAft>
            </a:pPr>
            <a:r>
              <a:rPr sz="1300" b="0">
                <a:solidFill>
                  <a:srgbClr val="1A1D21"/>
                </a:solidFill>
                <a:latin typeface="Arial"/>
              </a:rPr>
              <a:t>CPU governor pinned to performance (default idles at 1.6 GHz)</a:t>
            </a:r>
          </a:p>
          <a:p>
            <a:pPr algn="l">
              <a:lnSpc>
                <a:spcPct val="125000"/>
              </a:lnSpc>
              <a:spcAft>
                <a:spcPts val="900"/>
              </a:spcAft>
            </a:pPr>
            <a:r>
              <a:rPr sz="1300" b="0">
                <a:solidFill>
                  <a:srgbClr val="1A1D21"/>
                </a:solidFill>
                <a:latin typeface="Arial"/>
              </a:rPr>
              <a:t>120 s cooldown to 66 C between every cell</a:t>
            </a:r>
          </a:p>
          <a:p>
            <a:pPr algn="l">
              <a:lnSpc>
                <a:spcPct val="125000"/>
              </a:lnSpc>
              <a:spcAft>
                <a:spcPts val="900"/>
              </a:spcAft>
            </a:pPr>
            <a:r>
              <a:rPr sz="1300" b="0">
                <a:solidFill>
                  <a:srgbClr val="1A1D21"/>
                </a:solidFill>
                <a:latin typeface="Arial"/>
              </a:rPr>
              <a:t>No desktop session - costs the CPU path 16% invisibly</a:t>
            </a:r>
          </a:p>
          <a:p>
            <a:pPr algn="l">
              <a:lnSpc>
                <a:spcPct val="125000"/>
              </a:lnSpc>
              <a:spcAft>
                <a:spcPts val="900"/>
              </a:spcAft>
            </a:pPr>
            <a:r>
              <a:rPr sz="1300" b="0">
                <a:solidFill>
                  <a:srgbClr val="1A1D21"/>
                </a:solidFill>
                <a:latin typeface="Arial"/>
              </a:rPr>
              <a:t>Drift control re-runs the first cell at the end</a:t>
            </a:r>
          </a:p>
          <a:p>
            <a:pPr algn="l">
              <a:lnSpc>
                <a:spcPct val="125000"/>
              </a:lnSpc>
              <a:spcAft>
                <a:spcPts val="900"/>
              </a:spcAft>
            </a:pPr>
            <a:r>
              <a:rPr sz="1300" b="0">
                <a:solidFill>
                  <a:srgbClr val="1A1D21"/>
                </a:solidFill>
                <a:latin typeface="Arial"/>
              </a:rPr>
              <a:t>A CPU format measured first, never the accelerator</a:t>
            </a:r>
          </a:p>
        </p:txBody>
      </p:sp>
      <p:sp>
        <p:nvSpPr>
          <p:cNvPr id="11" name="TextBox 10"/>
          <p:cNvSpPr txBox="1"/>
          <p:nvPr/>
        </p:nvSpPr>
        <p:spPr>
          <a:xfrm>
            <a:off x="6693408" y="4599432"/>
            <a:ext cx="4846320" cy="822960"/>
          </a:xfrm>
          <a:prstGeom prst="rect">
            <a:avLst/>
          </a:prstGeom>
          <a:noFill/>
        </p:spPr>
        <p:txBody>
          <a:bodyPr wrap="square" lIns="0" rIns="0" tIns="0" bIns="0">
            <a:spAutoFit/>
          </a:bodyPr>
          <a:lstStyle/>
          <a:p>
            <a:pPr algn="l">
              <a:lnSpc>
                <a:spcPct val="125000"/>
              </a:lnSpc>
              <a:spcAft>
                <a:spcPts val="600"/>
              </a:spcAft>
            </a:pPr>
            <a:r>
              <a:rPr sz="1400" b="1">
                <a:solidFill>
                  <a:srgbClr val="C2701C"/>
                </a:solidFill>
                <a:latin typeface="Arial"/>
              </a:rPr>
              <a:t>This run: drift -2.3%, throttled 0x0, 2.4 GHz throughout.</a:t>
            </a:r>
          </a:p>
        </p:txBody>
      </p:sp>
      <p:sp>
        <p:nvSpPr>
          <p:cNvPr id="12" name="TextBox 11"/>
          <p:cNvSpPr txBox="1"/>
          <p:nvPr/>
        </p:nvSpPr>
        <p:spPr>
          <a:xfrm>
            <a:off x="11002975" y="6382512"/>
            <a:ext cx="548640" cy="274320"/>
          </a:xfrm>
          <a:prstGeom prst="rect">
            <a:avLst/>
          </a:prstGeom>
          <a:noFill/>
        </p:spPr>
        <p:txBody>
          <a:bodyPr wrap="square" lIns="0" rIns="0" tIns="0" bIns="0">
            <a:spAutoFit/>
          </a:bodyPr>
          <a:lstStyle/>
          <a:p>
            <a:pPr algn="r">
              <a:lnSpc>
                <a:spcPct val="125000"/>
              </a:lnSpc>
              <a:spcAft>
                <a:spcPts val="600"/>
              </a:spcAft>
            </a:pPr>
            <a:r>
              <a:rPr sz="1100" b="0">
                <a:solidFill>
                  <a:srgbClr val="5F6763"/>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spAutoFit/>
          </a:bodyPr>
          <a:lstStyle/>
          <a:p>
            <a:pPr algn="l">
              <a:lnSpc>
                <a:spcPct val="125000"/>
              </a:lnSpc>
              <a:spcAft>
                <a:spcPts val="600"/>
              </a:spcAft>
            </a:pPr>
            <a:r>
              <a:rPr sz="1100" b="1">
                <a:solidFill>
                  <a:srgbClr val="C2701C"/>
                </a:solidFill>
                <a:latin typeface="Arial"/>
              </a:rPr>
              <a:t>3 · RESULT</a:t>
            </a:r>
          </a:p>
        </p:txBody>
      </p:sp>
      <p:sp>
        <p:nvSpPr>
          <p:cNvPr id="3" name="TextBox 2"/>
          <p:cNvSpPr txBox="1"/>
          <p:nvPr/>
        </p:nvSpPr>
        <p:spPr>
          <a:xfrm>
            <a:off x="658368" y="713232"/>
            <a:ext cx="10874959" cy="640080"/>
          </a:xfrm>
          <a:prstGeom prst="rect">
            <a:avLst/>
          </a:prstGeom>
          <a:noFill/>
        </p:spPr>
        <p:txBody>
          <a:bodyPr wrap="square" lIns="0" rIns="0" tIns="0" bIns="0">
            <a:spAutoFit/>
          </a:bodyPr>
          <a:lstStyle/>
          <a:p>
            <a:pPr algn="l">
              <a:lnSpc>
                <a:spcPct val="125000"/>
              </a:lnSpc>
              <a:spcAft>
                <a:spcPts val="600"/>
              </a:spcAft>
            </a:pPr>
            <a:r>
              <a:rPr sz="3000" b="1">
                <a:solidFill>
                  <a:srgbClr val="1A1D21"/>
                </a:solidFill>
                <a:latin typeface="Arial"/>
              </a:rPr>
              <a:t>Benchmark: every runtime and precision</a:t>
            </a:r>
          </a:p>
        </p:txBody>
      </p:sp>
      <p:sp>
        <p:nvSpPr>
          <p:cNvPr id="4" name="TextBox 3"/>
          <p:cNvSpPr txBox="1"/>
          <p:nvPr/>
        </p:nvSpPr>
        <p:spPr>
          <a:xfrm>
            <a:off x="658368" y="1389888"/>
            <a:ext cx="10874959" cy="411480"/>
          </a:xfrm>
          <a:prstGeom prst="rect">
            <a:avLst/>
          </a:prstGeom>
          <a:noFill/>
        </p:spPr>
        <p:txBody>
          <a:bodyPr wrap="square" lIns="0" rIns="0" tIns="0" bIns="0">
            <a:spAutoFit/>
          </a:bodyPr>
          <a:lstStyle/>
          <a:p>
            <a:pPr algn="l">
              <a:lnSpc>
                <a:spcPct val="125000"/>
              </a:lnSpc>
              <a:spcAft>
                <a:spcPts val="600"/>
              </a:spcAft>
            </a:pPr>
            <a:r>
              <a:rPr sz="1500" b="0">
                <a:solidFill>
                  <a:srgbClr val="5F6763"/>
                </a:solidFill>
                <a:latin typeface="Arial"/>
              </a:rPr>
              <a:t>poc-v2 model, 480x480, 4 threads, idle board. 50 runs per cell after 5 warm-up.</a:t>
            </a:r>
          </a:p>
        </p:txBody>
      </p:sp>
      <p:sp>
        <p:nvSpPr>
          <p:cNvPr id="5" name="Rectangle 4"/>
          <p:cNvSpPr/>
          <p:nvPr/>
        </p:nvSpPr>
        <p:spPr>
          <a:xfrm>
            <a:off x="658368" y="1847088"/>
            <a:ext cx="10874959" cy="15240"/>
          </a:xfrm>
          <a:prstGeom prst="rect">
            <a:avLst/>
          </a:prstGeom>
          <a:solidFill>
            <a:srgbClr val="D8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2084832"/>
          <a:ext cx="7498080" cy="3712464"/>
        </p:xfrm>
        <a:graphic>
          <a:graphicData uri="http://schemas.openxmlformats.org/drawingml/2006/table">
            <a:tbl>
              <a:tblPr firstRow="1" bandRow="1">
                <a:tableStyleId>{5C22544A-7EE6-4342-B048-85BDC9FD1C3A}</a:tableStyleId>
              </a:tblPr>
              <a:tblGrid>
                <a:gridCol w="1463040"/>
                <a:gridCol w="914400"/>
                <a:gridCol w="1554480"/>
                <a:gridCol w="1097280"/>
                <a:gridCol w="1280160"/>
                <a:gridCol w="1188720"/>
              </a:tblGrid>
              <a:tr h="310896">
                <a:tc>
                  <a:txBody>
                    <a:bodyPr/>
                    <a:lstStyle/>
                    <a:p>
                      <a:pPr algn="l"/>
                      <a:r>
                        <a:rPr sz="1100" b="1">
                          <a:solidFill>
                            <a:srgbClr val="FFFFFF"/>
                          </a:solidFill>
                          <a:latin typeface="Arial"/>
                        </a:rPr>
                        <a:t>Runtime</a:t>
                      </a:r>
                    </a:p>
                  </a:txBody>
                  <a:tcPr anchor="ctr" marL="73152" marR="73152" marT="0" marB="0">
                    <a:solidFill>
                      <a:srgbClr val="1A1D21"/>
                    </a:solidFill>
                  </a:tcPr>
                </a:tc>
                <a:tc>
                  <a:txBody>
                    <a:bodyPr/>
                    <a:lstStyle/>
                    <a:p>
                      <a:pPr algn="l"/>
                      <a:r>
                        <a:rPr sz="1100" b="1">
                          <a:solidFill>
                            <a:srgbClr val="FFFFFF"/>
                          </a:solidFill>
                          <a:latin typeface="Arial"/>
                        </a:rPr>
                        <a:t>Prec</a:t>
                      </a:r>
                    </a:p>
                  </a:txBody>
                  <a:tcPr anchor="ctr" marL="73152" marR="73152" marT="0" marB="0">
                    <a:solidFill>
                      <a:srgbClr val="1A1D21"/>
                    </a:solidFill>
                  </a:tcPr>
                </a:tc>
                <a:tc>
                  <a:txBody>
                    <a:bodyPr/>
                    <a:lstStyle/>
                    <a:p>
                      <a:pPr algn="l"/>
                      <a:r>
                        <a:rPr sz="1100" b="1">
                          <a:solidFill>
                            <a:srgbClr val="FFFFFF"/>
                          </a:solidFill>
                          <a:latin typeface="Arial"/>
                        </a:rPr>
                        <a:t>Median ms</a:t>
                      </a:r>
                    </a:p>
                  </a:txBody>
                  <a:tcPr anchor="ctr" marL="73152" marR="73152" marT="0" marB="0">
                    <a:solidFill>
                      <a:srgbClr val="1A1D21"/>
                    </a:solidFill>
                  </a:tcPr>
                </a:tc>
                <a:tc>
                  <a:txBody>
                    <a:bodyPr/>
                    <a:lstStyle/>
                    <a:p>
                      <a:pPr algn="l"/>
                      <a:r>
                        <a:rPr sz="1100" b="1">
                          <a:solidFill>
                            <a:srgbClr val="FFFFFF"/>
                          </a:solidFill>
                          <a:latin typeface="Arial"/>
                        </a:rPr>
                        <a:t>FPS</a:t>
                      </a:r>
                    </a:p>
                  </a:txBody>
                  <a:tcPr anchor="ctr" marL="73152" marR="73152" marT="0" marB="0">
                    <a:solidFill>
                      <a:srgbClr val="1A1D21"/>
                    </a:solidFill>
                  </a:tcPr>
                </a:tc>
                <a:tc>
                  <a:txBody>
                    <a:bodyPr/>
                    <a:lstStyle/>
                    <a:p>
                      <a:pPr algn="l"/>
                      <a:r>
                        <a:rPr sz="1100" b="1">
                          <a:solidFill>
                            <a:srgbClr val="FFFFFF"/>
                          </a:solidFill>
                          <a:latin typeface="Arial"/>
                        </a:rPr>
                        <a:t>Size MB</a:t>
                      </a:r>
                    </a:p>
                  </a:txBody>
                  <a:tcPr anchor="ctr" marL="73152" marR="73152" marT="0" marB="0">
                    <a:solidFill>
                      <a:srgbClr val="1A1D21"/>
                    </a:solidFill>
                  </a:tcPr>
                </a:tc>
                <a:tc>
                  <a:txBody>
                    <a:bodyPr/>
                    <a:lstStyle/>
                    <a:p>
                      <a:pPr algn="l"/>
                      <a:r>
                        <a:rPr sz="1100" b="1">
                          <a:solidFill>
                            <a:srgbClr val="FFFFFF"/>
                          </a:solidFill>
                          <a:latin typeface="Arial"/>
                        </a:rPr>
                        <a:t>mAP50-95</a:t>
                      </a:r>
                    </a:p>
                  </a:txBody>
                  <a:tcPr anchor="ctr" marL="73152" marR="73152" marT="0" marB="0">
                    <a:solidFill>
                      <a:srgbClr val="1A1D21"/>
                    </a:solidFill>
                  </a:tcPr>
                </a:tc>
              </a:tr>
              <a:tr h="283464">
                <a:tc>
                  <a:txBody>
                    <a:bodyPr/>
                    <a:lstStyle/>
                    <a:p>
                      <a:pPr algn="l"/>
                      <a:r>
                        <a:rPr sz="1200" b="1">
                          <a:solidFill>
                            <a:srgbClr val="1A1D21"/>
                          </a:solidFill>
                          <a:latin typeface="Arial"/>
                        </a:rPr>
                        <a:t>hailo</a:t>
                      </a:r>
                    </a:p>
                  </a:txBody>
                  <a:tcPr anchor="ctr" marL="73152" marR="73152" marT="0" marB="0">
                    <a:solidFill>
                      <a:srgbClr val="FAEEDE"/>
                    </a:solidFill>
                  </a:tcPr>
                </a:tc>
                <a:tc>
                  <a:txBody>
                    <a:bodyPr/>
                    <a:lstStyle/>
                    <a:p>
                      <a:pPr algn="l"/>
                      <a:r>
                        <a:rPr sz="1200" b="1">
                          <a:solidFill>
                            <a:srgbClr val="1A1D21"/>
                          </a:solidFill>
                          <a:latin typeface="Consolas"/>
                        </a:rPr>
                        <a:t>int8</a:t>
                      </a:r>
                    </a:p>
                  </a:txBody>
                  <a:tcPr anchor="ctr" marL="73152" marR="73152" marT="0" marB="0">
                    <a:solidFill>
                      <a:srgbClr val="FAEEDE"/>
                    </a:solidFill>
                  </a:tcPr>
                </a:tc>
                <a:tc>
                  <a:txBody>
                    <a:bodyPr/>
                    <a:lstStyle/>
                    <a:p>
                      <a:pPr algn="r"/>
                      <a:r>
                        <a:rPr sz="1200" b="1">
                          <a:solidFill>
                            <a:srgbClr val="1A1D21"/>
                          </a:solidFill>
                          <a:latin typeface="Consolas"/>
                        </a:rPr>
                        <a:t>17.83</a:t>
                      </a:r>
                    </a:p>
                  </a:txBody>
                  <a:tcPr anchor="ctr" marL="73152" marR="73152" marT="0" marB="0">
                    <a:solidFill>
                      <a:srgbClr val="FAEEDE"/>
                    </a:solidFill>
                  </a:tcPr>
                </a:tc>
                <a:tc>
                  <a:txBody>
                    <a:bodyPr/>
                    <a:lstStyle/>
                    <a:p>
                      <a:pPr algn="r"/>
                      <a:r>
                        <a:rPr sz="1200" b="1">
                          <a:solidFill>
                            <a:srgbClr val="1A1D21"/>
                          </a:solidFill>
                          <a:latin typeface="Consolas"/>
                        </a:rPr>
                        <a:t>56.1</a:t>
                      </a:r>
                    </a:p>
                  </a:txBody>
                  <a:tcPr anchor="ctr" marL="73152" marR="73152" marT="0" marB="0">
                    <a:solidFill>
                      <a:srgbClr val="FAEEDE"/>
                    </a:solidFill>
                  </a:tcPr>
                </a:tc>
                <a:tc>
                  <a:txBody>
                    <a:bodyPr/>
                    <a:lstStyle/>
                    <a:p>
                      <a:pPr algn="r"/>
                      <a:r>
                        <a:rPr sz="1200" b="1">
                          <a:solidFill>
                            <a:srgbClr val="1A1D21"/>
                          </a:solidFill>
                          <a:latin typeface="Consolas"/>
                        </a:rPr>
                        <a:t>7.68</a:t>
                      </a:r>
                    </a:p>
                  </a:txBody>
                  <a:tcPr anchor="ctr" marL="73152" marR="73152" marT="0" marB="0">
                    <a:solidFill>
                      <a:srgbClr val="FAEEDE"/>
                    </a:solidFill>
                  </a:tcPr>
                </a:tc>
                <a:tc>
                  <a:txBody>
                    <a:bodyPr/>
                    <a:lstStyle/>
                    <a:p>
                      <a:pPr algn="r"/>
                      <a:r>
                        <a:rPr sz="1200" b="1">
                          <a:solidFill>
                            <a:srgbClr val="1A1D21"/>
                          </a:solidFill>
                          <a:latin typeface="Consolas"/>
                        </a:rPr>
                        <a:t>0.851</a:t>
                      </a:r>
                    </a:p>
                  </a:txBody>
                  <a:tcPr anchor="ctr" marL="73152" marR="73152" marT="0" marB="0">
                    <a:solidFill>
                      <a:srgbClr val="FAEEDE"/>
                    </a:solidFill>
                  </a:tcPr>
                </a:tc>
              </a:tr>
              <a:tr h="283464">
                <a:tc>
                  <a:txBody>
                    <a:bodyPr/>
                    <a:lstStyle/>
                    <a:p>
                      <a:pPr algn="l"/>
                      <a:r>
                        <a:rPr sz="1200" b="0">
                          <a:solidFill>
                            <a:srgbClr val="1A1D21"/>
                          </a:solidFill>
                          <a:latin typeface="Arial"/>
                        </a:rPr>
                        <a:t>litert</a:t>
                      </a:r>
                    </a:p>
                  </a:txBody>
                  <a:tcPr anchor="ctr" marL="73152" marR="73152" marT="0" marB="0">
                    <a:solidFill>
                      <a:srgbClr val="F2F3F1"/>
                    </a:solidFill>
                  </a:tcPr>
                </a:tc>
                <a:tc>
                  <a:txBody>
                    <a:bodyPr/>
                    <a:lstStyle/>
                    <a:p>
                      <a:pPr algn="l"/>
                      <a:r>
                        <a:rPr sz="1200" b="0">
                          <a:solidFill>
                            <a:srgbClr val="1A1D21"/>
                          </a:solidFill>
                          <a:latin typeface="Consolas"/>
                        </a:rPr>
                        <a:t>int8</a:t>
                      </a:r>
                    </a:p>
                  </a:txBody>
                  <a:tcPr anchor="ctr" marL="73152" marR="73152" marT="0" marB="0">
                    <a:solidFill>
                      <a:srgbClr val="F2F3F1"/>
                    </a:solidFill>
                  </a:tcPr>
                </a:tc>
                <a:tc>
                  <a:txBody>
                    <a:bodyPr/>
                    <a:lstStyle/>
                    <a:p>
                      <a:pPr algn="r"/>
                      <a:r>
                        <a:rPr sz="1200" b="0">
                          <a:solidFill>
                            <a:srgbClr val="1A1D21"/>
                          </a:solidFill>
                          <a:latin typeface="Consolas"/>
                        </a:rPr>
                        <a:t>23.36</a:t>
                      </a:r>
                    </a:p>
                  </a:txBody>
                  <a:tcPr anchor="ctr" marL="73152" marR="73152" marT="0" marB="0">
                    <a:solidFill>
                      <a:srgbClr val="F2F3F1"/>
                    </a:solidFill>
                  </a:tcPr>
                </a:tc>
                <a:tc>
                  <a:txBody>
                    <a:bodyPr/>
                    <a:lstStyle/>
                    <a:p>
                      <a:pPr algn="r"/>
                      <a:r>
                        <a:rPr sz="1200" b="0">
                          <a:solidFill>
                            <a:srgbClr val="1A1D21"/>
                          </a:solidFill>
                          <a:latin typeface="Consolas"/>
                        </a:rPr>
                        <a:t>42.8</a:t>
                      </a:r>
                    </a:p>
                  </a:txBody>
                  <a:tcPr anchor="ctr" marL="73152" marR="73152" marT="0" marB="0">
                    <a:solidFill>
                      <a:srgbClr val="F2F3F1"/>
                    </a:solidFill>
                  </a:tcPr>
                </a:tc>
                <a:tc>
                  <a:txBody>
                    <a:bodyPr/>
                    <a:lstStyle/>
                    <a:p>
                      <a:pPr algn="r"/>
                      <a:r>
                        <a:rPr sz="1200" b="0">
                          <a:solidFill>
                            <a:srgbClr val="1A1D21"/>
                          </a:solidFill>
                          <a:latin typeface="Consolas"/>
                        </a:rPr>
                        <a:t>3.03</a:t>
                      </a:r>
                    </a:p>
                  </a:txBody>
                  <a:tcPr anchor="ctr" marL="73152" marR="73152" marT="0" marB="0">
                    <a:solidFill>
                      <a:srgbClr val="F2F3F1"/>
                    </a:solidFill>
                  </a:tcPr>
                </a:tc>
                <a:tc>
                  <a:txBody>
                    <a:bodyPr/>
                    <a:lstStyle/>
                    <a:p>
                      <a:pPr algn="r"/>
                      <a:r>
                        <a:rPr sz="1200" b="0">
                          <a:solidFill>
                            <a:srgbClr val="1A1D21"/>
                          </a:solidFill>
                          <a:latin typeface="Consolas"/>
                        </a:rPr>
                        <a:t>0.732</a:t>
                      </a:r>
                    </a:p>
                  </a:txBody>
                  <a:tcPr anchor="ctr" marL="73152" marR="73152" marT="0" marB="0">
                    <a:solidFill>
                      <a:srgbClr val="F2F3F1"/>
                    </a:solidFill>
                  </a:tcPr>
                </a:tc>
              </a:tr>
              <a:tr h="283464">
                <a:tc>
                  <a:txBody>
                    <a:bodyPr/>
                    <a:lstStyle/>
                    <a:p>
                      <a:pPr algn="l"/>
                      <a:r>
                        <a:rPr sz="1200" b="0">
                          <a:solidFill>
                            <a:srgbClr val="1A1D21"/>
                          </a:solidFill>
                          <a:latin typeface="Arial"/>
                        </a:rPr>
                        <a:t>ncnn</a:t>
                      </a:r>
                    </a:p>
                  </a:txBody>
                  <a:tcPr anchor="ctr" marL="73152" marR="73152" marT="0" marB="0">
                    <a:solidFill>
                      <a:srgbClr val="FFFFFF"/>
                    </a:solidFill>
                  </a:tcPr>
                </a:tc>
                <a:tc>
                  <a:txBody>
                    <a:bodyPr/>
                    <a:lstStyle/>
                    <a:p>
                      <a:pPr algn="l"/>
                      <a:r>
                        <a:rPr sz="1200" b="0">
                          <a:solidFill>
                            <a:srgbClr val="1A1D21"/>
                          </a:solidFill>
                          <a:latin typeface="Consolas"/>
                        </a:rPr>
                        <a:t>fp32</a:t>
                      </a:r>
                    </a:p>
                  </a:txBody>
                  <a:tcPr anchor="ctr" marL="73152" marR="73152" marT="0" marB="0">
                    <a:solidFill>
                      <a:srgbClr val="FFFFFF"/>
                    </a:solidFill>
                  </a:tcPr>
                </a:tc>
                <a:tc>
                  <a:txBody>
                    <a:bodyPr/>
                    <a:lstStyle/>
                    <a:p>
                      <a:pPr algn="r"/>
                      <a:r>
                        <a:rPr sz="1200" b="0">
                          <a:solidFill>
                            <a:srgbClr val="1A1D21"/>
                          </a:solidFill>
                          <a:latin typeface="Consolas"/>
                        </a:rPr>
                        <a:t>43.27</a:t>
                      </a:r>
                    </a:p>
                  </a:txBody>
                  <a:tcPr anchor="ctr" marL="73152" marR="73152" marT="0" marB="0">
                    <a:solidFill>
                      <a:srgbClr val="FFFFFF"/>
                    </a:solidFill>
                  </a:tcPr>
                </a:tc>
                <a:tc>
                  <a:txBody>
                    <a:bodyPr/>
                    <a:lstStyle/>
                    <a:p>
                      <a:pPr algn="r"/>
                      <a:r>
                        <a:rPr sz="1200" b="0">
                          <a:solidFill>
                            <a:srgbClr val="1A1D21"/>
                          </a:solidFill>
                          <a:latin typeface="Consolas"/>
                        </a:rPr>
                        <a:t>23.1</a:t>
                      </a:r>
                    </a:p>
                  </a:txBody>
                  <a:tcPr anchor="ctr" marL="73152" marR="73152" marT="0" marB="0">
                    <a:solidFill>
                      <a:srgbClr val="FFFFFF"/>
                    </a:solidFill>
                  </a:tcPr>
                </a:tc>
                <a:tc>
                  <a:txBody>
                    <a:bodyPr/>
                    <a:lstStyle/>
                    <a:p>
                      <a:pPr algn="r"/>
                      <a:r>
                        <a:rPr sz="1200" b="0">
                          <a:solidFill>
                            <a:srgbClr val="1A1D21"/>
                          </a:solidFill>
                          <a:latin typeface="Consolas"/>
                        </a:rPr>
                        <a:t>10.48</a:t>
                      </a:r>
                    </a:p>
                  </a:txBody>
                  <a:tcPr anchor="ctr" marL="73152" marR="73152" marT="0" marB="0">
                    <a:solidFill>
                      <a:srgbClr val="FFFFFF"/>
                    </a:solidFill>
                  </a:tcPr>
                </a:tc>
                <a:tc>
                  <a:txBody>
                    <a:bodyPr/>
                    <a:lstStyle/>
                    <a:p>
                      <a:pPr algn="r"/>
                      <a:r>
                        <a:rPr sz="1200" b="0">
                          <a:solidFill>
                            <a:srgbClr val="1A1D21"/>
                          </a:solidFill>
                          <a:latin typeface="Consolas"/>
                        </a:rPr>
                        <a:t>0.856</a:t>
                      </a:r>
                    </a:p>
                  </a:txBody>
                  <a:tcPr anchor="ctr" marL="73152" marR="73152" marT="0" marB="0">
                    <a:solidFill>
                      <a:srgbClr val="FFFFFF"/>
                    </a:solidFill>
                  </a:tcPr>
                </a:tc>
              </a:tr>
              <a:tr h="283464">
                <a:tc>
                  <a:txBody>
                    <a:bodyPr/>
                    <a:lstStyle/>
                    <a:p>
                      <a:pPr algn="l"/>
                      <a:r>
                        <a:rPr sz="1200" b="0">
                          <a:solidFill>
                            <a:srgbClr val="1A1D21"/>
                          </a:solidFill>
                          <a:latin typeface="Arial"/>
                        </a:rPr>
                        <a:t>ncnn</a:t>
                      </a:r>
                    </a:p>
                  </a:txBody>
                  <a:tcPr anchor="ctr" marL="73152" marR="73152" marT="0" marB="0">
                    <a:solidFill>
                      <a:srgbClr val="F2F3F1"/>
                    </a:solidFill>
                  </a:tcPr>
                </a:tc>
                <a:tc>
                  <a:txBody>
                    <a:bodyPr/>
                    <a:lstStyle/>
                    <a:p>
                      <a:pPr algn="l"/>
                      <a:r>
                        <a:rPr sz="1200" b="0">
                          <a:solidFill>
                            <a:srgbClr val="1A1D21"/>
                          </a:solidFill>
                          <a:latin typeface="Consolas"/>
                        </a:rPr>
                        <a:t>fp16</a:t>
                      </a:r>
                    </a:p>
                  </a:txBody>
                  <a:tcPr anchor="ctr" marL="73152" marR="73152" marT="0" marB="0">
                    <a:solidFill>
                      <a:srgbClr val="F2F3F1"/>
                    </a:solidFill>
                  </a:tcPr>
                </a:tc>
                <a:tc>
                  <a:txBody>
                    <a:bodyPr/>
                    <a:lstStyle/>
                    <a:p>
                      <a:pPr algn="r"/>
                      <a:r>
                        <a:rPr sz="1200" b="0">
                          <a:solidFill>
                            <a:srgbClr val="1A1D21"/>
                          </a:solidFill>
                          <a:latin typeface="Consolas"/>
                        </a:rPr>
                        <a:t>43.94</a:t>
                      </a:r>
                    </a:p>
                  </a:txBody>
                  <a:tcPr anchor="ctr" marL="73152" marR="73152" marT="0" marB="0">
                    <a:solidFill>
                      <a:srgbClr val="F2F3F1"/>
                    </a:solidFill>
                  </a:tcPr>
                </a:tc>
                <a:tc>
                  <a:txBody>
                    <a:bodyPr/>
                    <a:lstStyle/>
                    <a:p>
                      <a:pPr algn="r"/>
                      <a:r>
                        <a:rPr sz="1200" b="0">
                          <a:solidFill>
                            <a:srgbClr val="1A1D21"/>
                          </a:solidFill>
                          <a:latin typeface="Consolas"/>
                        </a:rPr>
                        <a:t>22.8</a:t>
                      </a:r>
                    </a:p>
                  </a:txBody>
                  <a:tcPr anchor="ctr" marL="73152" marR="73152" marT="0" marB="0">
                    <a:solidFill>
                      <a:srgbClr val="F2F3F1"/>
                    </a:solidFill>
                  </a:tcPr>
                </a:tc>
                <a:tc>
                  <a:txBody>
                    <a:bodyPr/>
                    <a:lstStyle/>
                    <a:p>
                      <a:pPr algn="r"/>
                      <a:r>
                        <a:rPr sz="1200" b="0">
                          <a:solidFill>
                            <a:srgbClr val="1A1D21"/>
                          </a:solidFill>
                          <a:latin typeface="Consolas"/>
                        </a:rPr>
                        <a:t>5.33</a:t>
                      </a:r>
                    </a:p>
                  </a:txBody>
                  <a:tcPr anchor="ctr" marL="73152" marR="73152" marT="0" marB="0">
                    <a:solidFill>
                      <a:srgbClr val="F2F3F1"/>
                    </a:solidFill>
                  </a:tcPr>
                </a:tc>
                <a:tc>
                  <a:txBody>
                    <a:bodyPr/>
                    <a:lstStyle/>
                    <a:p>
                      <a:pPr algn="r"/>
                      <a:r>
                        <a:rPr sz="1200" b="0">
                          <a:solidFill>
                            <a:srgbClr val="1A1D21"/>
                          </a:solidFill>
                          <a:latin typeface="Consolas"/>
                        </a:rPr>
                        <a:t>0.856</a:t>
                      </a:r>
                    </a:p>
                  </a:txBody>
                  <a:tcPr anchor="ctr" marL="73152" marR="73152" marT="0" marB="0">
                    <a:solidFill>
                      <a:srgbClr val="F2F3F1"/>
                    </a:solidFill>
                  </a:tcPr>
                </a:tc>
              </a:tr>
              <a:tr h="283464">
                <a:tc>
                  <a:txBody>
                    <a:bodyPr/>
                    <a:lstStyle/>
                    <a:p>
                      <a:pPr algn="l"/>
                      <a:r>
                        <a:rPr sz="1200" b="0">
                          <a:solidFill>
                            <a:srgbClr val="1A1D21"/>
                          </a:solidFill>
                          <a:latin typeface="Arial"/>
                        </a:rPr>
                        <a:t>mnn</a:t>
                      </a:r>
                    </a:p>
                  </a:txBody>
                  <a:tcPr anchor="ctr" marL="73152" marR="73152" marT="0" marB="0">
                    <a:solidFill>
                      <a:srgbClr val="FFFFFF"/>
                    </a:solidFill>
                  </a:tcPr>
                </a:tc>
                <a:tc>
                  <a:txBody>
                    <a:bodyPr/>
                    <a:lstStyle/>
                    <a:p>
                      <a:pPr algn="l"/>
                      <a:r>
                        <a:rPr sz="1200" b="0">
                          <a:solidFill>
                            <a:srgbClr val="1A1D21"/>
                          </a:solidFill>
                          <a:latin typeface="Consolas"/>
                        </a:rPr>
                        <a:t>fp32</a:t>
                      </a:r>
                    </a:p>
                  </a:txBody>
                  <a:tcPr anchor="ctr" marL="73152" marR="73152" marT="0" marB="0">
                    <a:solidFill>
                      <a:srgbClr val="FFFFFF"/>
                    </a:solidFill>
                  </a:tcPr>
                </a:tc>
                <a:tc>
                  <a:txBody>
                    <a:bodyPr/>
                    <a:lstStyle/>
                    <a:p>
                      <a:pPr algn="r"/>
                      <a:r>
                        <a:rPr sz="1200" b="0">
                          <a:solidFill>
                            <a:srgbClr val="1A1D21"/>
                          </a:solidFill>
                          <a:latin typeface="Consolas"/>
                        </a:rPr>
                        <a:t>56.82</a:t>
                      </a:r>
                    </a:p>
                  </a:txBody>
                  <a:tcPr anchor="ctr" marL="73152" marR="73152" marT="0" marB="0">
                    <a:solidFill>
                      <a:srgbClr val="FFFFFF"/>
                    </a:solidFill>
                  </a:tcPr>
                </a:tc>
                <a:tc>
                  <a:txBody>
                    <a:bodyPr/>
                    <a:lstStyle/>
                    <a:p>
                      <a:pPr algn="r"/>
                      <a:r>
                        <a:rPr sz="1200" b="0">
                          <a:solidFill>
                            <a:srgbClr val="1A1D21"/>
                          </a:solidFill>
                          <a:latin typeface="Consolas"/>
                        </a:rPr>
                        <a:t>17.6</a:t>
                      </a:r>
                    </a:p>
                  </a:txBody>
                  <a:tcPr anchor="ctr" marL="73152" marR="73152" marT="0" marB="0">
                    <a:solidFill>
                      <a:srgbClr val="FFFFFF"/>
                    </a:solidFill>
                  </a:tcPr>
                </a:tc>
                <a:tc>
                  <a:txBody>
                    <a:bodyPr/>
                    <a:lstStyle/>
                    <a:p>
                      <a:pPr algn="r"/>
                      <a:r>
                        <a:rPr sz="1200" b="0">
                          <a:solidFill>
                            <a:srgbClr val="1A1D21"/>
                          </a:solidFill>
                          <a:latin typeface="Consolas"/>
                        </a:rPr>
                        <a:t>10.45</a:t>
                      </a:r>
                    </a:p>
                  </a:txBody>
                  <a:tcPr anchor="ctr" marL="73152" marR="73152" marT="0" marB="0">
                    <a:solidFill>
                      <a:srgbClr val="FFFFFF"/>
                    </a:solidFill>
                  </a:tcPr>
                </a:tc>
                <a:tc>
                  <a:txBody>
                    <a:bodyPr/>
                    <a:lstStyle/>
                    <a:p>
                      <a:pPr algn="r"/>
                      <a:r>
                        <a:rPr sz="1200" b="0">
                          <a:solidFill>
                            <a:srgbClr val="1A1D21"/>
                          </a:solidFill>
                          <a:latin typeface="Consolas"/>
                        </a:rPr>
                        <a:t>0.856</a:t>
                      </a:r>
                    </a:p>
                  </a:txBody>
                  <a:tcPr anchor="ctr" marL="73152" marR="73152" marT="0" marB="0">
                    <a:solidFill>
                      <a:srgbClr val="FFFFFF"/>
                    </a:solidFill>
                  </a:tcPr>
                </a:tc>
              </a:tr>
              <a:tr h="283464">
                <a:tc>
                  <a:txBody>
                    <a:bodyPr/>
                    <a:lstStyle/>
                    <a:p>
                      <a:pPr algn="l"/>
                      <a:r>
                        <a:rPr sz="1200" b="0">
                          <a:solidFill>
                            <a:srgbClr val="1A1D21"/>
                          </a:solidFill>
                          <a:latin typeface="Arial"/>
                        </a:rPr>
                        <a:t>mnn</a:t>
                      </a:r>
                    </a:p>
                  </a:txBody>
                  <a:tcPr anchor="ctr" marL="73152" marR="73152" marT="0" marB="0">
                    <a:solidFill>
                      <a:srgbClr val="F2F3F1"/>
                    </a:solidFill>
                  </a:tcPr>
                </a:tc>
                <a:tc>
                  <a:txBody>
                    <a:bodyPr/>
                    <a:lstStyle/>
                    <a:p>
                      <a:pPr algn="l"/>
                      <a:r>
                        <a:rPr sz="1200" b="0">
                          <a:solidFill>
                            <a:srgbClr val="1A1D21"/>
                          </a:solidFill>
                          <a:latin typeface="Consolas"/>
                        </a:rPr>
                        <a:t>int8</a:t>
                      </a:r>
                    </a:p>
                  </a:txBody>
                  <a:tcPr anchor="ctr" marL="73152" marR="73152" marT="0" marB="0">
                    <a:solidFill>
                      <a:srgbClr val="F2F3F1"/>
                    </a:solidFill>
                  </a:tcPr>
                </a:tc>
                <a:tc>
                  <a:txBody>
                    <a:bodyPr/>
                    <a:lstStyle/>
                    <a:p>
                      <a:pPr algn="r"/>
                      <a:r>
                        <a:rPr sz="1200" b="0">
                          <a:solidFill>
                            <a:srgbClr val="1A1D21"/>
                          </a:solidFill>
                          <a:latin typeface="Consolas"/>
                        </a:rPr>
                        <a:t>57.39</a:t>
                      </a:r>
                    </a:p>
                  </a:txBody>
                  <a:tcPr anchor="ctr" marL="73152" marR="73152" marT="0" marB="0">
                    <a:solidFill>
                      <a:srgbClr val="F2F3F1"/>
                    </a:solidFill>
                  </a:tcPr>
                </a:tc>
                <a:tc>
                  <a:txBody>
                    <a:bodyPr/>
                    <a:lstStyle/>
                    <a:p>
                      <a:pPr algn="r"/>
                      <a:r>
                        <a:rPr sz="1200" b="0">
                          <a:solidFill>
                            <a:srgbClr val="1A1D21"/>
                          </a:solidFill>
                          <a:latin typeface="Consolas"/>
                        </a:rPr>
                        <a:t>17.4</a:t>
                      </a:r>
                    </a:p>
                  </a:txBody>
                  <a:tcPr anchor="ctr" marL="73152" marR="73152" marT="0" marB="0">
                    <a:solidFill>
                      <a:srgbClr val="F2F3F1"/>
                    </a:solidFill>
                  </a:tcPr>
                </a:tc>
                <a:tc>
                  <a:txBody>
                    <a:bodyPr/>
                    <a:lstStyle/>
                    <a:p>
                      <a:pPr algn="r"/>
                      <a:r>
                        <a:rPr sz="1200" b="0">
                          <a:solidFill>
                            <a:srgbClr val="1A1D21"/>
                          </a:solidFill>
                          <a:latin typeface="Consolas"/>
                        </a:rPr>
                        <a:t>2.81</a:t>
                      </a:r>
                    </a:p>
                  </a:txBody>
                  <a:tcPr anchor="ctr" marL="73152" marR="73152" marT="0" marB="0">
                    <a:solidFill>
                      <a:srgbClr val="F2F3F1"/>
                    </a:solidFill>
                  </a:tcPr>
                </a:tc>
                <a:tc>
                  <a:txBody>
                    <a:bodyPr/>
                    <a:lstStyle/>
                    <a:p>
                      <a:pPr algn="r"/>
                      <a:r>
                        <a:rPr sz="1200" b="0">
                          <a:solidFill>
                            <a:srgbClr val="1A1D21"/>
                          </a:solidFill>
                          <a:latin typeface="Consolas"/>
                        </a:rPr>
                        <a:t>0.847</a:t>
                      </a:r>
                    </a:p>
                  </a:txBody>
                  <a:tcPr anchor="ctr" marL="73152" marR="73152" marT="0" marB="0">
                    <a:solidFill>
                      <a:srgbClr val="F2F3F1"/>
                    </a:solidFill>
                  </a:tcPr>
                </a:tc>
              </a:tr>
              <a:tr h="283464">
                <a:tc>
                  <a:txBody>
                    <a:bodyPr/>
                    <a:lstStyle/>
                    <a:p>
                      <a:pPr algn="l"/>
                      <a:r>
                        <a:rPr sz="1200" b="0">
                          <a:solidFill>
                            <a:srgbClr val="1A1D21"/>
                          </a:solidFill>
                          <a:latin typeface="Arial"/>
                        </a:rPr>
                        <a:t>openvino</a:t>
                      </a:r>
                    </a:p>
                  </a:txBody>
                  <a:tcPr anchor="ctr" marL="73152" marR="73152" marT="0" marB="0">
                    <a:solidFill>
                      <a:srgbClr val="FFFFFF"/>
                    </a:solidFill>
                  </a:tcPr>
                </a:tc>
                <a:tc>
                  <a:txBody>
                    <a:bodyPr/>
                    <a:lstStyle/>
                    <a:p>
                      <a:pPr algn="l"/>
                      <a:r>
                        <a:rPr sz="1200" b="0">
                          <a:solidFill>
                            <a:srgbClr val="1A1D21"/>
                          </a:solidFill>
                          <a:latin typeface="Consolas"/>
                        </a:rPr>
                        <a:t>fp16</a:t>
                      </a:r>
                    </a:p>
                  </a:txBody>
                  <a:tcPr anchor="ctr" marL="73152" marR="73152" marT="0" marB="0">
                    <a:solidFill>
                      <a:srgbClr val="FFFFFF"/>
                    </a:solidFill>
                  </a:tcPr>
                </a:tc>
                <a:tc>
                  <a:txBody>
                    <a:bodyPr/>
                    <a:lstStyle/>
                    <a:p>
                      <a:pPr algn="r"/>
                      <a:r>
                        <a:rPr sz="1200" b="0">
                          <a:solidFill>
                            <a:srgbClr val="1A1D21"/>
                          </a:solidFill>
                          <a:latin typeface="Consolas"/>
                        </a:rPr>
                        <a:t>62.90</a:t>
                      </a:r>
                    </a:p>
                  </a:txBody>
                  <a:tcPr anchor="ctr" marL="73152" marR="73152" marT="0" marB="0">
                    <a:solidFill>
                      <a:srgbClr val="FFFFFF"/>
                    </a:solidFill>
                  </a:tcPr>
                </a:tc>
                <a:tc>
                  <a:txBody>
                    <a:bodyPr/>
                    <a:lstStyle/>
                    <a:p>
                      <a:pPr algn="r"/>
                      <a:r>
                        <a:rPr sz="1200" b="0">
                          <a:solidFill>
                            <a:srgbClr val="1A1D21"/>
                          </a:solidFill>
                          <a:latin typeface="Consolas"/>
                        </a:rPr>
                        <a:t>15.9</a:t>
                      </a:r>
                    </a:p>
                  </a:txBody>
                  <a:tcPr anchor="ctr" marL="73152" marR="73152" marT="0" marB="0">
                    <a:solidFill>
                      <a:srgbClr val="FFFFFF"/>
                    </a:solidFill>
                  </a:tcPr>
                </a:tc>
                <a:tc>
                  <a:txBody>
                    <a:bodyPr/>
                    <a:lstStyle/>
                    <a:p>
                      <a:pPr algn="r"/>
                      <a:r>
                        <a:rPr sz="1200" b="0">
                          <a:solidFill>
                            <a:srgbClr val="1A1D21"/>
                          </a:solidFill>
                          <a:latin typeface="Consolas"/>
                        </a:rPr>
                        <a:t>5.61</a:t>
                      </a:r>
                    </a:p>
                  </a:txBody>
                  <a:tcPr anchor="ctr" marL="73152" marR="73152" marT="0" marB="0">
                    <a:solidFill>
                      <a:srgbClr val="FFFFFF"/>
                    </a:solidFill>
                  </a:tcPr>
                </a:tc>
                <a:tc>
                  <a:txBody>
                    <a:bodyPr/>
                    <a:lstStyle/>
                    <a:p>
                      <a:pPr algn="r"/>
                      <a:r>
                        <a:rPr sz="1200" b="0">
                          <a:solidFill>
                            <a:srgbClr val="1A1D21"/>
                          </a:solidFill>
                          <a:latin typeface="Consolas"/>
                        </a:rPr>
                        <a:t>0.856</a:t>
                      </a:r>
                    </a:p>
                  </a:txBody>
                  <a:tcPr anchor="ctr" marL="73152" marR="73152" marT="0" marB="0">
                    <a:solidFill>
                      <a:srgbClr val="FFFFFF"/>
                    </a:solidFill>
                  </a:tcPr>
                </a:tc>
              </a:tr>
              <a:tr h="283464">
                <a:tc>
                  <a:txBody>
                    <a:bodyPr/>
                    <a:lstStyle/>
                    <a:p>
                      <a:pPr algn="l"/>
                      <a:r>
                        <a:rPr sz="1200" b="0">
                          <a:solidFill>
                            <a:srgbClr val="1A1D21"/>
                          </a:solidFill>
                          <a:latin typeface="Arial"/>
                        </a:rPr>
                        <a:t>openvino</a:t>
                      </a:r>
                    </a:p>
                  </a:txBody>
                  <a:tcPr anchor="ctr" marL="73152" marR="73152" marT="0" marB="0">
                    <a:solidFill>
                      <a:srgbClr val="F2F3F1"/>
                    </a:solidFill>
                  </a:tcPr>
                </a:tc>
                <a:tc>
                  <a:txBody>
                    <a:bodyPr/>
                    <a:lstStyle/>
                    <a:p>
                      <a:pPr algn="l"/>
                      <a:r>
                        <a:rPr sz="1200" b="0">
                          <a:solidFill>
                            <a:srgbClr val="1A1D21"/>
                          </a:solidFill>
                          <a:latin typeface="Consolas"/>
                        </a:rPr>
                        <a:t>fp32</a:t>
                      </a:r>
                    </a:p>
                  </a:txBody>
                  <a:tcPr anchor="ctr" marL="73152" marR="73152" marT="0" marB="0">
                    <a:solidFill>
                      <a:srgbClr val="F2F3F1"/>
                    </a:solidFill>
                  </a:tcPr>
                </a:tc>
                <a:tc>
                  <a:txBody>
                    <a:bodyPr/>
                    <a:lstStyle/>
                    <a:p>
                      <a:pPr algn="r"/>
                      <a:r>
                        <a:rPr sz="1200" b="0">
                          <a:solidFill>
                            <a:srgbClr val="1A1D21"/>
                          </a:solidFill>
                          <a:latin typeface="Consolas"/>
                        </a:rPr>
                        <a:t>63.44</a:t>
                      </a:r>
                    </a:p>
                  </a:txBody>
                  <a:tcPr anchor="ctr" marL="73152" marR="73152" marT="0" marB="0">
                    <a:solidFill>
                      <a:srgbClr val="F2F3F1"/>
                    </a:solidFill>
                  </a:tcPr>
                </a:tc>
                <a:tc>
                  <a:txBody>
                    <a:bodyPr/>
                    <a:lstStyle/>
                    <a:p>
                      <a:pPr algn="r"/>
                      <a:r>
                        <a:rPr sz="1200" b="0">
                          <a:solidFill>
                            <a:srgbClr val="1A1D21"/>
                          </a:solidFill>
                          <a:latin typeface="Consolas"/>
                        </a:rPr>
                        <a:t>15.8</a:t>
                      </a:r>
                    </a:p>
                  </a:txBody>
                  <a:tcPr anchor="ctr" marL="73152" marR="73152" marT="0" marB="0">
                    <a:solidFill>
                      <a:srgbClr val="F2F3F1"/>
                    </a:solidFill>
                  </a:tcPr>
                </a:tc>
                <a:tc>
                  <a:txBody>
                    <a:bodyPr/>
                    <a:lstStyle/>
                    <a:p>
                      <a:pPr algn="r"/>
                      <a:r>
                        <a:rPr sz="1200" b="0">
                          <a:solidFill>
                            <a:srgbClr val="1A1D21"/>
                          </a:solidFill>
                          <a:latin typeface="Consolas"/>
                        </a:rPr>
                        <a:t>10.70</a:t>
                      </a:r>
                    </a:p>
                  </a:txBody>
                  <a:tcPr anchor="ctr" marL="73152" marR="73152" marT="0" marB="0">
                    <a:solidFill>
                      <a:srgbClr val="F2F3F1"/>
                    </a:solidFill>
                  </a:tcPr>
                </a:tc>
                <a:tc>
                  <a:txBody>
                    <a:bodyPr/>
                    <a:lstStyle/>
                    <a:p>
                      <a:pPr algn="r"/>
                      <a:r>
                        <a:rPr sz="1200" b="0">
                          <a:solidFill>
                            <a:srgbClr val="1A1D21"/>
                          </a:solidFill>
                          <a:latin typeface="Consolas"/>
                        </a:rPr>
                        <a:t>0.856</a:t>
                      </a:r>
                    </a:p>
                  </a:txBody>
                  <a:tcPr anchor="ctr" marL="73152" marR="73152" marT="0" marB="0">
                    <a:solidFill>
                      <a:srgbClr val="F2F3F1"/>
                    </a:solidFill>
                  </a:tcPr>
                </a:tc>
              </a:tr>
              <a:tr h="283464">
                <a:tc>
                  <a:txBody>
                    <a:bodyPr/>
                    <a:lstStyle/>
                    <a:p>
                      <a:pPr algn="l"/>
                      <a:r>
                        <a:rPr sz="1200" b="0">
                          <a:solidFill>
                            <a:srgbClr val="1A1D21"/>
                          </a:solidFill>
                          <a:latin typeface="Arial"/>
                        </a:rPr>
                        <a:t>litert</a:t>
                      </a:r>
                    </a:p>
                  </a:txBody>
                  <a:tcPr anchor="ctr" marL="73152" marR="73152" marT="0" marB="0">
                    <a:solidFill>
                      <a:srgbClr val="FFFFFF"/>
                    </a:solidFill>
                  </a:tcPr>
                </a:tc>
                <a:tc>
                  <a:txBody>
                    <a:bodyPr/>
                    <a:lstStyle/>
                    <a:p>
                      <a:pPr algn="l"/>
                      <a:r>
                        <a:rPr sz="1200" b="0">
                          <a:solidFill>
                            <a:srgbClr val="1A1D21"/>
                          </a:solidFill>
                          <a:latin typeface="Consolas"/>
                        </a:rPr>
                        <a:t>fp32</a:t>
                      </a:r>
                    </a:p>
                  </a:txBody>
                  <a:tcPr anchor="ctr" marL="73152" marR="73152" marT="0" marB="0">
                    <a:solidFill>
                      <a:srgbClr val="FFFFFF"/>
                    </a:solidFill>
                  </a:tcPr>
                </a:tc>
                <a:tc>
                  <a:txBody>
                    <a:bodyPr/>
                    <a:lstStyle/>
                    <a:p>
                      <a:pPr algn="r"/>
                      <a:r>
                        <a:rPr sz="1200" b="0">
                          <a:solidFill>
                            <a:srgbClr val="1A1D21"/>
                          </a:solidFill>
                          <a:latin typeface="Consolas"/>
                        </a:rPr>
                        <a:t>76.65</a:t>
                      </a:r>
                    </a:p>
                  </a:txBody>
                  <a:tcPr anchor="ctr" marL="73152" marR="73152" marT="0" marB="0">
                    <a:solidFill>
                      <a:srgbClr val="FFFFFF"/>
                    </a:solidFill>
                  </a:tcPr>
                </a:tc>
                <a:tc>
                  <a:txBody>
                    <a:bodyPr/>
                    <a:lstStyle/>
                    <a:p>
                      <a:pPr algn="r"/>
                      <a:r>
                        <a:rPr sz="1200" b="0">
                          <a:solidFill>
                            <a:srgbClr val="1A1D21"/>
                          </a:solidFill>
                          <a:latin typeface="Consolas"/>
                        </a:rPr>
                        <a:t>13.0</a:t>
                      </a:r>
                    </a:p>
                  </a:txBody>
                  <a:tcPr anchor="ctr" marL="73152" marR="73152" marT="0" marB="0">
                    <a:solidFill>
                      <a:srgbClr val="FFFFFF"/>
                    </a:solidFill>
                  </a:tcPr>
                </a:tc>
                <a:tc>
                  <a:txBody>
                    <a:bodyPr/>
                    <a:lstStyle/>
                    <a:p>
                      <a:pPr algn="r"/>
                      <a:r>
                        <a:rPr sz="1200" b="0">
                          <a:solidFill>
                            <a:srgbClr val="1A1D21"/>
                          </a:solidFill>
                          <a:latin typeface="Consolas"/>
                        </a:rPr>
                        <a:t>10.59</a:t>
                      </a:r>
                    </a:p>
                  </a:txBody>
                  <a:tcPr anchor="ctr" marL="73152" marR="73152" marT="0" marB="0">
                    <a:solidFill>
                      <a:srgbClr val="FFFFFF"/>
                    </a:solidFill>
                  </a:tcPr>
                </a:tc>
                <a:tc>
                  <a:txBody>
                    <a:bodyPr/>
                    <a:lstStyle/>
                    <a:p>
                      <a:pPr algn="r"/>
                      <a:r>
                        <a:rPr sz="1200" b="0">
                          <a:solidFill>
                            <a:srgbClr val="1A1D21"/>
                          </a:solidFill>
                          <a:latin typeface="Consolas"/>
                        </a:rPr>
                        <a:t>0.856</a:t>
                      </a:r>
                    </a:p>
                  </a:txBody>
                  <a:tcPr anchor="ctr" marL="73152" marR="73152" marT="0" marB="0">
                    <a:solidFill>
                      <a:srgbClr val="FFFFFF"/>
                    </a:solidFill>
                  </a:tcPr>
                </a:tc>
              </a:tr>
              <a:tr h="283464">
                <a:tc>
                  <a:txBody>
                    <a:bodyPr/>
                    <a:lstStyle/>
                    <a:p>
                      <a:pPr algn="l"/>
                      <a:r>
                        <a:rPr sz="1200" b="0">
                          <a:solidFill>
                            <a:srgbClr val="1A1D21"/>
                          </a:solidFill>
                          <a:latin typeface="Arial"/>
                        </a:rPr>
                        <a:t>onnx</a:t>
                      </a:r>
                    </a:p>
                  </a:txBody>
                  <a:tcPr anchor="ctr" marL="73152" marR="73152" marT="0" marB="0">
                    <a:solidFill>
                      <a:srgbClr val="F2F3F1"/>
                    </a:solidFill>
                  </a:tcPr>
                </a:tc>
                <a:tc>
                  <a:txBody>
                    <a:bodyPr/>
                    <a:lstStyle/>
                    <a:p>
                      <a:pPr algn="l"/>
                      <a:r>
                        <a:rPr sz="1200" b="0">
                          <a:solidFill>
                            <a:srgbClr val="1A1D21"/>
                          </a:solidFill>
                          <a:latin typeface="Consolas"/>
                        </a:rPr>
                        <a:t>int8</a:t>
                      </a:r>
                    </a:p>
                  </a:txBody>
                  <a:tcPr anchor="ctr" marL="73152" marR="73152" marT="0" marB="0">
                    <a:solidFill>
                      <a:srgbClr val="F2F3F1"/>
                    </a:solidFill>
                  </a:tcPr>
                </a:tc>
                <a:tc>
                  <a:txBody>
                    <a:bodyPr/>
                    <a:lstStyle/>
                    <a:p>
                      <a:pPr algn="r"/>
                      <a:r>
                        <a:rPr sz="1200" b="0">
                          <a:solidFill>
                            <a:srgbClr val="1A1D21"/>
                          </a:solidFill>
                          <a:latin typeface="Consolas"/>
                        </a:rPr>
                        <a:t>87.30</a:t>
                      </a:r>
                    </a:p>
                  </a:txBody>
                  <a:tcPr anchor="ctr" marL="73152" marR="73152" marT="0" marB="0">
                    <a:solidFill>
                      <a:srgbClr val="F2F3F1"/>
                    </a:solidFill>
                  </a:tcPr>
                </a:tc>
                <a:tc>
                  <a:txBody>
                    <a:bodyPr/>
                    <a:lstStyle/>
                    <a:p>
                      <a:pPr algn="r"/>
                      <a:r>
                        <a:rPr sz="1200" b="0">
                          <a:solidFill>
                            <a:srgbClr val="1A1D21"/>
                          </a:solidFill>
                          <a:latin typeface="Consolas"/>
                        </a:rPr>
                        <a:t>11.5</a:t>
                      </a:r>
                    </a:p>
                  </a:txBody>
                  <a:tcPr anchor="ctr" marL="73152" marR="73152" marT="0" marB="0">
                    <a:solidFill>
                      <a:srgbClr val="F2F3F1"/>
                    </a:solidFill>
                  </a:tcPr>
                </a:tc>
                <a:tc>
                  <a:txBody>
                    <a:bodyPr/>
                    <a:lstStyle/>
                    <a:p>
                      <a:pPr algn="r"/>
                      <a:r>
                        <a:rPr sz="1200" b="0">
                          <a:solidFill>
                            <a:srgbClr val="1A1D21"/>
                          </a:solidFill>
                          <a:latin typeface="Consolas"/>
                        </a:rPr>
                        <a:t>2.99</a:t>
                      </a:r>
                    </a:p>
                  </a:txBody>
                  <a:tcPr anchor="ctr" marL="73152" marR="73152" marT="0" marB="0">
                    <a:solidFill>
                      <a:srgbClr val="F2F3F1"/>
                    </a:solidFill>
                  </a:tcPr>
                </a:tc>
                <a:tc>
                  <a:txBody>
                    <a:bodyPr/>
                    <a:lstStyle/>
                    <a:p>
                      <a:pPr algn="r"/>
                      <a:r>
                        <a:rPr sz="1200" b="0">
                          <a:solidFill>
                            <a:srgbClr val="1A1D21"/>
                          </a:solidFill>
                          <a:latin typeface="Consolas"/>
                        </a:rPr>
                        <a:t>0.805</a:t>
                      </a:r>
                    </a:p>
                  </a:txBody>
                  <a:tcPr anchor="ctr" marL="73152" marR="73152" marT="0" marB="0">
                    <a:solidFill>
                      <a:srgbClr val="F2F3F1"/>
                    </a:solidFill>
                  </a:tcPr>
                </a:tc>
              </a:tr>
              <a:tr h="283464">
                <a:tc>
                  <a:txBody>
                    <a:bodyPr/>
                    <a:lstStyle/>
                    <a:p>
                      <a:pPr algn="l"/>
                      <a:r>
                        <a:rPr sz="1200" b="0">
                          <a:solidFill>
                            <a:srgbClr val="1A1D21"/>
                          </a:solidFill>
                          <a:latin typeface="Arial"/>
                        </a:rPr>
                        <a:t>onnx</a:t>
                      </a:r>
                    </a:p>
                  </a:txBody>
                  <a:tcPr anchor="ctr" marL="73152" marR="73152" marT="0" marB="0">
                    <a:solidFill>
                      <a:srgbClr val="FFFFFF"/>
                    </a:solidFill>
                  </a:tcPr>
                </a:tc>
                <a:tc>
                  <a:txBody>
                    <a:bodyPr/>
                    <a:lstStyle/>
                    <a:p>
                      <a:pPr algn="l"/>
                      <a:r>
                        <a:rPr sz="1200" b="0">
                          <a:solidFill>
                            <a:srgbClr val="1A1D21"/>
                          </a:solidFill>
                          <a:latin typeface="Consolas"/>
                        </a:rPr>
                        <a:t>fp32</a:t>
                      </a:r>
                    </a:p>
                  </a:txBody>
                  <a:tcPr anchor="ctr" marL="73152" marR="73152" marT="0" marB="0">
                    <a:solidFill>
                      <a:srgbClr val="FFFFFF"/>
                    </a:solidFill>
                  </a:tcPr>
                </a:tc>
                <a:tc>
                  <a:txBody>
                    <a:bodyPr/>
                    <a:lstStyle/>
                    <a:p>
                      <a:pPr algn="r"/>
                      <a:r>
                        <a:rPr sz="1200" b="0">
                          <a:solidFill>
                            <a:srgbClr val="1A1D21"/>
                          </a:solidFill>
                          <a:latin typeface="Consolas"/>
                        </a:rPr>
                        <a:t>88.00</a:t>
                      </a:r>
                    </a:p>
                  </a:txBody>
                  <a:tcPr anchor="ctr" marL="73152" marR="73152" marT="0" marB="0">
                    <a:solidFill>
                      <a:srgbClr val="FFFFFF"/>
                    </a:solidFill>
                  </a:tcPr>
                </a:tc>
                <a:tc>
                  <a:txBody>
                    <a:bodyPr/>
                    <a:lstStyle/>
                    <a:p>
                      <a:pPr algn="r"/>
                      <a:r>
                        <a:rPr sz="1200" b="0">
                          <a:solidFill>
                            <a:srgbClr val="1A1D21"/>
                          </a:solidFill>
                          <a:latin typeface="Consolas"/>
                        </a:rPr>
                        <a:t>11.4</a:t>
                      </a:r>
                    </a:p>
                  </a:txBody>
                  <a:tcPr anchor="ctr" marL="73152" marR="73152" marT="0" marB="0">
                    <a:solidFill>
                      <a:srgbClr val="FFFFFF"/>
                    </a:solidFill>
                  </a:tcPr>
                </a:tc>
                <a:tc>
                  <a:txBody>
                    <a:bodyPr/>
                    <a:lstStyle/>
                    <a:p>
                      <a:pPr algn="r"/>
                      <a:r>
                        <a:rPr sz="1200" b="0">
                          <a:solidFill>
                            <a:srgbClr val="1A1D21"/>
                          </a:solidFill>
                          <a:latin typeface="Consolas"/>
                        </a:rPr>
                        <a:t>10.53</a:t>
                      </a:r>
                    </a:p>
                  </a:txBody>
                  <a:tcPr anchor="ctr" marL="73152" marR="73152" marT="0" marB="0">
                    <a:solidFill>
                      <a:srgbClr val="FFFFFF"/>
                    </a:solidFill>
                  </a:tcPr>
                </a:tc>
                <a:tc>
                  <a:txBody>
                    <a:bodyPr/>
                    <a:lstStyle/>
                    <a:p>
                      <a:pPr algn="r"/>
                      <a:r>
                        <a:rPr sz="1200" b="0">
                          <a:solidFill>
                            <a:srgbClr val="1A1D21"/>
                          </a:solidFill>
                          <a:latin typeface="Consolas"/>
                        </a:rPr>
                        <a:t>0.856</a:t>
                      </a:r>
                    </a:p>
                  </a:txBody>
                  <a:tcPr anchor="ctr" marL="73152" marR="73152" marT="0" marB="0">
                    <a:solidFill>
                      <a:srgbClr val="FFFFFF"/>
                    </a:solidFill>
                  </a:tcPr>
                </a:tc>
              </a:tr>
              <a:tr h="283464">
                <a:tc>
                  <a:txBody>
                    <a:bodyPr/>
                    <a:lstStyle/>
                    <a:p>
                      <a:pPr algn="l"/>
                      <a:r>
                        <a:rPr sz="1200" b="0">
                          <a:solidFill>
                            <a:srgbClr val="1A1D21"/>
                          </a:solidFill>
                          <a:latin typeface="Arial"/>
                        </a:rPr>
                        <a:t>openvino</a:t>
                      </a:r>
                    </a:p>
                  </a:txBody>
                  <a:tcPr anchor="ctr" marL="73152" marR="73152" marT="0" marB="0">
                    <a:solidFill>
                      <a:srgbClr val="F2F3F1"/>
                    </a:solidFill>
                  </a:tcPr>
                </a:tc>
                <a:tc>
                  <a:txBody>
                    <a:bodyPr/>
                    <a:lstStyle/>
                    <a:p>
                      <a:pPr algn="l"/>
                      <a:r>
                        <a:rPr sz="1200" b="0">
                          <a:solidFill>
                            <a:srgbClr val="1A1D21"/>
                          </a:solidFill>
                          <a:latin typeface="Consolas"/>
                        </a:rPr>
                        <a:t>int8</a:t>
                      </a:r>
                    </a:p>
                  </a:txBody>
                  <a:tcPr anchor="ctr" marL="73152" marR="73152" marT="0" marB="0">
                    <a:solidFill>
                      <a:srgbClr val="F2F3F1"/>
                    </a:solidFill>
                  </a:tcPr>
                </a:tc>
                <a:tc>
                  <a:txBody>
                    <a:bodyPr/>
                    <a:lstStyle/>
                    <a:p>
                      <a:pPr algn="r"/>
                      <a:r>
                        <a:rPr sz="1200" b="0">
                          <a:solidFill>
                            <a:srgbClr val="1A1D21"/>
                          </a:solidFill>
                          <a:latin typeface="Consolas"/>
                        </a:rPr>
                        <a:t>167.20</a:t>
                      </a:r>
                    </a:p>
                  </a:txBody>
                  <a:tcPr anchor="ctr" marL="73152" marR="73152" marT="0" marB="0">
                    <a:solidFill>
                      <a:srgbClr val="F2F3F1"/>
                    </a:solidFill>
                  </a:tcPr>
                </a:tc>
                <a:tc>
                  <a:txBody>
                    <a:bodyPr/>
                    <a:lstStyle/>
                    <a:p>
                      <a:pPr algn="r"/>
                      <a:r>
                        <a:rPr sz="1200" b="0">
                          <a:solidFill>
                            <a:srgbClr val="1A1D21"/>
                          </a:solidFill>
                          <a:latin typeface="Consolas"/>
                        </a:rPr>
                        <a:t>6.0</a:t>
                      </a:r>
                    </a:p>
                  </a:txBody>
                  <a:tcPr anchor="ctr" marL="73152" marR="73152" marT="0" marB="0">
                    <a:solidFill>
                      <a:srgbClr val="F2F3F1"/>
                    </a:solidFill>
                  </a:tcPr>
                </a:tc>
                <a:tc>
                  <a:txBody>
                    <a:bodyPr/>
                    <a:lstStyle/>
                    <a:p>
                      <a:pPr algn="r"/>
                      <a:r>
                        <a:rPr sz="1200" b="0">
                          <a:solidFill>
                            <a:srgbClr val="1A1D21"/>
                          </a:solidFill>
                          <a:latin typeface="Consolas"/>
                        </a:rPr>
                        <a:t>3.34</a:t>
                      </a:r>
                    </a:p>
                  </a:txBody>
                  <a:tcPr anchor="ctr" marL="73152" marR="73152" marT="0" marB="0">
                    <a:solidFill>
                      <a:srgbClr val="F2F3F1"/>
                    </a:solidFill>
                  </a:tcPr>
                </a:tc>
                <a:tc>
                  <a:txBody>
                    <a:bodyPr/>
                    <a:lstStyle/>
                    <a:p>
                      <a:pPr algn="r"/>
                      <a:r>
                        <a:rPr sz="1200" b="0">
                          <a:solidFill>
                            <a:srgbClr val="1A1D21"/>
                          </a:solidFill>
                          <a:latin typeface="Consolas"/>
                        </a:rPr>
                        <a:t>0.830</a:t>
                      </a:r>
                    </a:p>
                  </a:txBody>
                  <a:tcPr anchor="ctr" marL="73152" marR="73152" marT="0" marB="0">
                    <a:solidFill>
                      <a:srgbClr val="F2F3F1"/>
                    </a:solidFill>
                  </a:tcPr>
                </a:tc>
              </a:tr>
            </a:tbl>
          </a:graphicData>
        </a:graphic>
      </p:graphicFrame>
      <p:sp>
        <p:nvSpPr>
          <p:cNvPr id="7" name="TextBox 6"/>
          <p:cNvSpPr txBox="1"/>
          <p:nvPr/>
        </p:nvSpPr>
        <p:spPr>
          <a:xfrm>
            <a:off x="8522208" y="2084832"/>
            <a:ext cx="3566160" cy="3108960"/>
          </a:xfrm>
          <a:prstGeom prst="rect">
            <a:avLst/>
          </a:prstGeom>
          <a:noFill/>
        </p:spPr>
        <p:txBody>
          <a:bodyPr wrap="square" lIns="0" rIns="0" tIns="0" bIns="0">
            <a:spAutoFit/>
          </a:bodyPr>
          <a:lstStyle/>
          <a:p>
            <a:pPr algn="l">
              <a:lnSpc>
                <a:spcPct val="125000"/>
              </a:lnSpc>
              <a:spcAft>
                <a:spcPts val="600"/>
              </a:spcAft>
            </a:pPr>
            <a:r>
              <a:rPr sz="1900" b="1">
                <a:solidFill>
                  <a:srgbClr val="C2701C"/>
                </a:solidFill>
                <a:latin typeface="Arial"/>
              </a:rPr>
              <a:t>Hailo-8: 17.8 ms, 56 FPS</a:t>
            </a:r>
          </a:p>
          <a:p>
            <a:pPr algn="l">
              <a:lnSpc>
                <a:spcPct val="125000"/>
              </a:lnSpc>
              <a:spcAft>
                <a:spcPts val="600"/>
              </a:spcAft>
            </a:pPr>
            <a:r>
              <a:rPr sz="1300" b="0">
                <a:solidFill>
                  <a:srgbClr val="5F6763"/>
                </a:solidFill>
                <a:latin typeface="Arial"/>
              </a:rPr>
              <a:t>2.4x the fastest CPU runtime, and it barely touches the CPU - 0.4 ms of postprocess against ~1.0 ms elsewhere, because NMS is compiled onto the chip.</a:t>
            </a:r>
          </a:p>
          <a:p>
            <a:pPr algn="l">
              <a:lnSpc>
                <a:spcPct val="125000"/>
              </a:lnSpc>
              <a:spcAft>
                <a:spcPts val="600"/>
              </a:spcAft>
              <a:defRPr sz="600" b="0">
                <a:solidFill>
                  <a:srgbClr val="1A1D21"/>
                </a:solidFill>
                <a:latin typeface="Arial"/>
              </a:defRPr>
            </a:pPr>
          </a:p>
          <a:p>
            <a:pPr algn="l">
              <a:lnSpc>
                <a:spcPct val="125000"/>
              </a:lnSpc>
              <a:spcAft>
                <a:spcPts val="600"/>
              </a:spcAft>
            </a:pPr>
            <a:r>
              <a:rPr sz="1500" b="1">
                <a:solidFill>
                  <a:srgbClr val="1A1D21"/>
                </a:solidFill>
                <a:latin typeface="Arial"/>
              </a:rPr>
              <a:t>Software INT8 does not compute</a:t>
            </a:r>
          </a:p>
          <a:p>
            <a:pPr algn="l">
              <a:lnSpc>
                <a:spcPct val="125000"/>
              </a:lnSpc>
              <a:spcAft>
                <a:spcPts val="600"/>
              </a:spcAft>
            </a:pPr>
            <a:r>
              <a:rPr sz="1300" b="0">
                <a:solidFill>
                  <a:srgbClr val="5F6763"/>
                </a:solidFill>
                <a:latin typeface="Arial"/>
              </a:rPr>
              <a:t>MNN INT8 is slower than its own FP32; ONNX INT8 lands within 1 ms of its own. The file shrinks 3.7x, the arithmetic never changes.</a:t>
            </a:r>
          </a:p>
          <a:p>
            <a:pPr algn="l">
              <a:lnSpc>
                <a:spcPct val="125000"/>
              </a:lnSpc>
              <a:spcAft>
                <a:spcPts val="600"/>
              </a:spcAft>
              <a:defRPr sz="600" b="0">
                <a:solidFill>
                  <a:srgbClr val="1A1D21"/>
                </a:solidFill>
                <a:latin typeface="Arial"/>
              </a:defRPr>
            </a:pPr>
          </a:p>
          <a:p>
            <a:pPr algn="l">
              <a:lnSpc>
                <a:spcPct val="125000"/>
              </a:lnSpc>
              <a:spcAft>
                <a:spcPts val="600"/>
              </a:spcAft>
            </a:pPr>
            <a:r>
              <a:rPr sz="1200" b="0">
                <a:solidFill>
                  <a:srgbClr val="5F6763"/>
                </a:solidFill>
                <a:latin typeface="Arial"/>
              </a:rPr>
              <a:t>Not buildable: NCNN INT8 has no export path at all, and the Hailo-8 is INT8-only silicon. Those gaps are toolchain facts, not omissions.</a:t>
            </a:r>
          </a:p>
        </p:txBody>
      </p:sp>
      <p:sp>
        <p:nvSpPr>
          <p:cNvPr id="8" name="TextBox 7"/>
          <p:cNvSpPr txBox="1"/>
          <p:nvPr/>
        </p:nvSpPr>
        <p:spPr>
          <a:xfrm>
            <a:off x="11002975" y="6382512"/>
            <a:ext cx="548640" cy="274320"/>
          </a:xfrm>
          <a:prstGeom prst="rect">
            <a:avLst/>
          </a:prstGeom>
          <a:noFill/>
        </p:spPr>
        <p:txBody>
          <a:bodyPr wrap="square" lIns="0" rIns="0" tIns="0" bIns="0">
            <a:spAutoFit/>
          </a:bodyPr>
          <a:lstStyle/>
          <a:p>
            <a:pPr algn="r">
              <a:lnSpc>
                <a:spcPct val="125000"/>
              </a:lnSpc>
              <a:spcAft>
                <a:spcPts val="600"/>
              </a:spcAft>
            </a:pPr>
            <a:r>
              <a:rPr sz="1100" b="0">
                <a:solidFill>
                  <a:srgbClr val="5F6763"/>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spAutoFit/>
          </a:bodyPr>
          <a:lstStyle/>
          <a:p>
            <a:pPr algn="l">
              <a:lnSpc>
                <a:spcPct val="125000"/>
              </a:lnSpc>
              <a:spcAft>
                <a:spcPts val="600"/>
              </a:spcAft>
            </a:pPr>
            <a:r>
              <a:rPr sz="1100" b="1">
                <a:solidFill>
                  <a:srgbClr val="C2701C"/>
                </a:solidFill>
                <a:latin typeface="Arial"/>
              </a:rPr>
              <a:t>4 · RESULT</a:t>
            </a:r>
          </a:p>
        </p:txBody>
      </p:sp>
      <p:sp>
        <p:nvSpPr>
          <p:cNvPr id="3" name="TextBox 2"/>
          <p:cNvSpPr txBox="1"/>
          <p:nvPr/>
        </p:nvSpPr>
        <p:spPr>
          <a:xfrm>
            <a:off x="658368" y="713232"/>
            <a:ext cx="10874959" cy="640080"/>
          </a:xfrm>
          <a:prstGeom prst="rect">
            <a:avLst/>
          </a:prstGeom>
          <a:noFill/>
        </p:spPr>
        <p:txBody>
          <a:bodyPr wrap="square" lIns="0" rIns="0" tIns="0" bIns="0">
            <a:spAutoFit/>
          </a:bodyPr>
          <a:lstStyle/>
          <a:p>
            <a:pPr algn="l">
              <a:lnSpc>
                <a:spcPct val="125000"/>
              </a:lnSpc>
              <a:spcAft>
                <a:spcPts val="600"/>
              </a:spcAft>
            </a:pPr>
            <a:r>
              <a:rPr sz="3000" b="1">
                <a:solidFill>
                  <a:srgbClr val="1A1D21"/>
                </a:solidFill>
                <a:latin typeface="Arial"/>
              </a:rPr>
              <a:t>The measurement that decides the architecture</a:t>
            </a:r>
          </a:p>
        </p:txBody>
      </p:sp>
      <p:sp>
        <p:nvSpPr>
          <p:cNvPr id="4" name="TextBox 3"/>
          <p:cNvSpPr txBox="1"/>
          <p:nvPr/>
        </p:nvSpPr>
        <p:spPr>
          <a:xfrm>
            <a:off x="658368" y="1389888"/>
            <a:ext cx="10874959" cy="411480"/>
          </a:xfrm>
          <a:prstGeom prst="rect">
            <a:avLst/>
          </a:prstGeom>
          <a:noFill/>
        </p:spPr>
        <p:txBody>
          <a:bodyPr wrap="square" lIns="0" rIns="0" tIns="0" bIns="0">
            <a:spAutoFit/>
          </a:bodyPr>
          <a:lstStyle/>
          <a:p>
            <a:pPr algn="l">
              <a:lnSpc>
                <a:spcPct val="125000"/>
              </a:lnSpc>
              <a:spcAft>
                <a:spcPts val="600"/>
              </a:spcAft>
            </a:pPr>
            <a:r>
              <a:rPr sz="1500" b="0">
                <a:solidFill>
                  <a:srgbClr val="5F6763"/>
                </a:solidFill>
                <a:latin typeface="Arial"/>
              </a:rPr>
              <a:t>A robot running SLAM cannot give four cores to vision. So measure it at two.</a:t>
            </a:r>
          </a:p>
        </p:txBody>
      </p:sp>
      <p:sp>
        <p:nvSpPr>
          <p:cNvPr id="5" name="Rectangle 4"/>
          <p:cNvSpPr/>
          <p:nvPr/>
        </p:nvSpPr>
        <p:spPr>
          <a:xfrm>
            <a:off x="658368" y="1847088"/>
            <a:ext cx="10874959" cy="15240"/>
          </a:xfrm>
          <a:prstGeom prst="rect">
            <a:avLst/>
          </a:prstGeom>
          <a:solidFill>
            <a:srgbClr val="D8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2084832"/>
          <a:ext cx="6766560" cy="877824"/>
        </p:xfrm>
        <a:graphic>
          <a:graphicData uri="http://schemas.openxmlformats.org/drawingml/2006/table">
            <a:tbl>
              <a:tblPr firstRow="1" bandRow="1">
                <a:tableStyleId>{5C22544A-7EE6-4342-B048-85BDC9FD1C3A}</a:tableStyleId>
              </a:tblPr>
              <a:tblGrid>
                <a:gridCol w="2651760"/>
                <a:gridCol w="1371600"/>
                <a:gridCol w="1371600"/>
                <a:gridCol w="1371600"/>
              </a:tblGrid>
              <a:tr h="310896">
                <a:tc>
                  <a:txBody>
                    <a:bodyPr/>
                    <a:lstStyle/>
                    <a:p>
                      <a:pPr algn="l"/>
                      <a:r>
                        <a:rPr sz="1400" b="1">
                          <a:solidFill>
                            <a:srgbClr val="FFFFFF"/>
                          </a:solidFill>
                          <a:latin typeface="Arial"/>
                        </a:rPr>
                        <a:t>Runtime</a:t>
                      </a:r>
                    </a:p>
                  </a:txBody>
                  <a:tcPr anchor="ctr" marL="73152" marR="73152" marT="0" marB="0">
                    <a:solidFill>
                      <a:srgbClr val="1A1D21"/>
                    </a:solidFill>
                  </a:tcPr>
                </a:tc>
                <a:tc>
                  <a:txBody>
                    <a:bodyPr/>
                    <a:lstStyle/>
                    <a:p>
                      <a:pPr algn="l"/>
                      <a:r>
                        <a:rPr sz="1400" b="1">
                          <a:solidFill>
                            <a:srgbClr val="FFFFFF"/>
                          </a:solidFill>
                          <a:latin typeface="Arial"/>
                        </a:rPr>
                        <a:t>4 cores</a:t>
                      </a:r>
                    </a:p>
                  </a:txBody>
                  <a:tcPr anchor="ctr" marL="73152" marR="73152" marT="0" marB="0">
                    <a:solidFill>
                      <a:srgbClr val="1A1D21"/>
                    </a:solidFill>
                  </a:tcPr>
                </a:tc>
                <a:tc>
                  <a:txBody>
                    <a:bodyPr/>
                    <a:lstStyle/>
                    <a:p>
                      <a:pPr algn="l"/>
                      <a:r>
                        <a:rPr sz="1400" b="1">
                          <a:solidFill>
                            <a:srgbClr val="FFFFFF"/>
                          </a:solidFill>
                          <a:latin typeface="Arial"/>
                        </a:rPr>
                        <a:t>2 cores</a:t>
                      </a:r>
                    </a:p>
                  </a:txBody>
                  <a:tcPr anchor="ctr" marL="73152" marR="73152" marT="0" marB="0">
                    <a:solidFill>
                      <a:srgbClr val="1A1D21"/>
                    </a:solidFill>
                  </a:tcPr>
                </a:tc>
                <a:tc>
                  <a:txBody>
                    <a:bodyPr/>
                    <a:lstStyle/>
                    <a:p>
                      <a:pPr algn="l"/>
                      <a:r>
                        <a:rPr sz="1400" b="1">
                          <a:solidFill>
                            <a:srgbClr val="FFFFFF"/>
                          </a:solidFill>
                          <a:latin typeface="Arial"/>
                        </a:rPr>
                        <a:t>Change</a:t>
                      </a:r>
                    </a:p>
                  </a:txBody>
                  <a:tcPr anchor="ctr" marL="73152" marR="73152" marT="0" marB="0">
                    <a:solidFill>
                      <a:srgbClr val="1A1D21"/>
                    </a:solidFill>
                  </a:tcPr>
                </a:tc>
              </a:tr>
              <a:tr h="283464">
                <a:tc>
                  <a:txBody>
                    <a:bodyPr/>
                    <a:lstStyle/>
                    <a:p>
                      <a:pPr algn="l"/>
                      <a:r>
                        <a:rPr sz="1500" b="0">
                          <a:solidFill>
                            <a:srgbClr val="1A1D21"/>
                          </a:solidFill>
                          <a:latin typeface="Arial"/>
                        </a:rPr>
                        <a:t>NCNN FP16 (best CPU)</a:t>
                      </a:r>
                    </a:p>
                  </a:txBody>
                  <a:tcPr anchor="ctr" marL="73152" marR="73152" marT="0" marB="0">
                    <a:solidFill>
                      <a:srgbClr val="FFFFFF"/>
                    </a:solidFill>
                  </a:tcPr>
                </a:tc>
                <a:tc>
                  <a:txBody>
                    <a:bodyPr/>
                    <a:lstStyle/>
                    <a:p>
                      <a:pPr algn="l"/>
                      <a:r>
                        <a:rPr sz="1500" b="0">
                          <a:solidFill>
                            <a:srgbClr val="1A1D21"/>
                          </a:solidFill>
                          <a:latin typeface="Consolas"/>
                        </a:rPr>
                        <a:t>43.94 ms</a:t>
                      </a:r>
                    </a:p>
                  </a:txBody>
                  <a:tcPr anchor="ctr" marL="73152" marR="73152" marT="0" marB="0">
                    <a:solidFill>
                      <a:srgbClr val="FFFFFF"/>
                    </a:solidFill>
                  </a:tcPr>
                </a:tc>
                <a:tc>
                  <a:txBody>
                    <a:bodyPr/>
                    <a:lstStyle/>
                    <a:p>
                      <a:pPr algn="l"/>
                      <a:r>
                        <a:rPr sz="1500" b="0">
                          <a:solidFill>
                            <a:srgbClr val="1A1D21"/>
                          </a:solidFill>
                          <a:latin typeface="Consolas"/>
                        </a:rPr>
                        <a:t>57.67 ms</a:t>
                      </a:r>
                    </a:p>
                  </a:txBody>
                  <a:tcPr anchor="ctr" marL="73152" marR="73152" marT="0" marB="0">
                    <a:solidFill>
                      <a:srgbClr val="FFFFFF"/>
                    </a:solidFill>
                  </a:tcPr>
                </a:tc>
                <a:tc>
                  <a:txBody>
                    <a:bodyPr/>
                    <a:lstStyle/>
                    <a:p>
                      <a:pPr algn="r"/>
                      <a:r>
                        <a:rPr sz="1500" b="0">
                          <a:solidFill>
                            <a:srgbClr val="1A1D21"/>
                          </a:solidFill>
                          <a:latin typeface="Consolas"/>
                        </a:rPr>
                        <a:t>+31.2%</a:t>
                      </a:r>
                    </a:p>
                  </a:txBody>
                  <a:tcPr anchor="ctr" marL="73152" marR="73152" marT="0" marB="0">
                    <a:solidFill>
                      <a:srgbClr val="FFFFFF"/>
                    </a:solidFill>
                  </a:tcPr>
                </a:tc>
              </a:tr>
              <a:tr h="283464">
                <a:tc>
                  <a:txBody>
                    <a:bodyPr/>
                    <a:lstStyle/>
                    <a:p>
                      <a:pPr algn="l"/>
                      <a:r>
                        <a:rPr sz="1500" b="1">
                          <a:solidFill>
                            <a:srgbClr val="1A1D21"/>
                          </a:solidFill>
                          <a:latin typeface="Arial"/>
                        </a:rPr>
                        <a:t>Hailo-8 INT8</a:t>
                      </a:r>
                    </a:p>
                  </a:txBody>
                  <a:tcPr anchor="ctr" marL="73152" marR="73152" marT="0" marB="0">
                    <a:solidFill>
                      <a:srgbClr val="FAEEDE"/>
                    </a:solidFill>
                  </a:tcPr>
                </a:tc>
                <a:tc>
                  <a:txBody>
                    <a:bodyPr/>
                    <a:lstStyle/>
                    <a:p>
                      <a:pPr algn="l"/>
                      <a:r>
                        <a:rPr sz="1500" b="1">
                          <a:solidFill>
                            <a:srgbClr val="1A1D21"/>
                          </a:solidFill>
                          <a:latin typeface="Consolas"/>
                        </a:rPr>
                        <a:t>17.83 ms</a:t>
                      </a:r>
                    </a:p>
                  </a:txBody>
                  <a:tcPr anchor="ctr" marL="73152" marR="73152" marT="0" marB="0">
                    <a:solidFill>
                      <a:srgbClr val="FAEEDE"/>
                    </a:solidFill>
                  </a:tcPr>
                </a:tc>
                <a:tc>
                  <a:txBody>
                    <a:bodyPr/>
                    <a:lstStyle/>
                    <a:p>
                      <a:pPr algn="l"/>
                      <a:r>
                        <a:rPr sz="1500" b="1">
                          <a:solidFill>
                            <a:srgbClr val="1A1D21"/>
                          </a:solidFill>
                          <a:latin typeface="Consolas"/>
                        </a:rPr>
                        <a:t>17.82 ms</a:t>
                      </a:r>
                    </a:p>
                  </a:txBody>
                  <a:tcPr anchor="ctr" marL="73152" marR="73152" marT="0" marB="0">
                    <a:solidFill>
                      <a:srgbClr val="FAEEDE"/>
                    </a:solidFill>
                  </a:tcPr>
                </a:tc>
                <a:tc>
                  <a:txBody>
                    <a:bodyPr/>
                    <a:lstStyle/>
                    <a:p>
                      <a:pPr algn="r"/>
                      <a:r>
                        <a:rPr sz="1500" b="1">
                          <a:solidFill>
                            <a:srgbClr val="1A1D21"/>
                          </a:solidFill>
                          <a:latin typeface="Consolas"/>
                        </a:rPr>
                        <a:t>-0.1%</a:t>
                      </a:r>
                    </a:p>
                  </a:txBody>
                  <a:tcPr anchor="ctr" marL="73152" marR="73152" marT="0" marB="0">
                    <a:solidFill>
                      <a:srgbClr val="FAEEDE"/>
                    </a:solidFill>
                  </a:tcPr>
                </a:tc>
              </a:tr>
            </a:tbl>
          </a:graphicData>
        </a:graphic>
      </p:graphicFrame>
      <p:sp>
        <p:nvSpPr>
          <p:cNvPr id="7" name="TextBox 6"/>
          <p:cNvSpPr txBox="1"/>
          <p:nvPr/>
        </p:nvSpPr>
        <p:spPr>
          <a:xfrm>
            <a:off x="658368" y="3319272"/>
            <a:ext cx="6766560" cy="1280160"/>
          </a:xfrm>
          <a:prstGeom prst="rect">
            <a:avLst/>
          </a:prstGeom>
          <a:noFill/>
        </p:spPr>
        <p:txBody>
          <a:bodyPr wrap="square" lIns="0" rIns="0" tIns="0" bIns="0">
            <a:spAutoFit/>
          </a:bodyPr>
          <a:lstStyle/>
          <a:p>
            <a:pPr algn="l">
              <a:lnSpc>
                <a:spcPct val="125000"/>
              </a:lnSpc>
              <a:spcAft>
                <a:spcPts val="600"/>
              </a:spcAft>
            </a:pPr>
            <a:r>
              <a:rPr sz="1600" b="1">
                <a:solidFill>
                  <a:srgbClr val="1A1D21"/>
                </a:solidFill>
                <a:latin typeface="Arial"/>
              </a:rPr>
              <a:t>Halving the cores costs the CPU a third of its throughput and the accelerator nothing.</a:t>
            </a:r>
          </a:p>
          <a:p>
            <a:pPr algn="l">
              <a:lnSpc>
                <a:spcPct val="125000"/>
              </a:lnSpc>
              <a:spcAft>
                <a:spcPts val="600"/>
              </a:spcAft>
            </a:pPr>
            <a:r>
              <a:rPr sz="1300" b="0">
                <a:solidFill>
                  <a:srgbClr val="5F6763"/>
                </a:solidFill>
                <a:latin typeface="Arial"/>
              </a:rPr>
              <a:t>Hailo's inference is not on the CPU at all, so the gap widens from 2.46x to 3.24x. At two cores the CPU path drops to 17.3 FPS while the accelerator holds 56.</a:t>
            </a:r>
          </a:p>
        </p:txBody>
      </p:sp>
      <p:sp>
        <p:nvSpPr>
          <p:cNvPr id="8" name="TextBox 7"/>
          <p:cNvSpPr txBox="1"/>
          <p:nvPr/>
        </p:nvSpPr>
        <p:spPr>
          <a:xfrm>
            <a:off x="7882128" y="2084832"/>
            <a:ext cx="4206240" cy="2560320"/>
          </a:xfrm>
          <a:prstGeom prst="rect">
            <a:avLst/>
          </a:prstGeom>
          <a:noFill/>
        </p:spPr>
        <p:txBody>
          <a:bodyPr wrap="square" lIns="0" rIns="0" tIns="0" bIns="0">
            <a:spAutoFit/>
          </a:bodyPr>
          <a:lstStyle/>
          <a:p>
            <a:pPr algn="l">
              <a:lnSpc>
                <a:spcPct val="125000"/>
              </a:lnSpc>
              <a:spcAft>
                <a:spcPts val="600"/>
              </a:spcAft>
            </a:pPr>
            <a:r>
              <a:rPr sz="1600" b="1">
                <a:solidFill>
                  <a:srgbClr val="1A1D21"/>
                </a:solidFill>
                <a:latin typeface="Arial"/>
              </a:rPr>
              <a:t>Sustained load, 600 s</a:t>
            </a:r>
          </a:p>
          <a:p>
            <a:pPr algn="l">
              <a:lnSpc>
                <a:spcPct val="125000"/>
              </a:lnSpc>
              <a:spcAft>
                <a:spcPts val="600"/>
              </a:spcAft>
            </a:pPr>
            <a:r>
              <a:rPr sz="2600" b="1">
                <a:solidFill>
                  <a:srgbClr val="C2701C"/>
                </a:solidFill>
                <a:latin typeface="Arial"/>
              </a:rPr>
              <a:t>43.4 FPS sustained</a:t>
            </a:r>
          </a:p>
          <a:p>
            <a:pPr algn="l">
              <a:lnSpc>
                <a:spcPct val="125000"/>
              </a:lnSpc>
              <a:spcAft>
                <a:spcPts val="600"/>
              </a:spcAft>
            </a:pPr>
            <a:r>
              <a:rPr sz="1300" b="0">
                <a:solidFill>
                  <a:srgbClr val="5F6763"/>
                </a:solidFill>
                <a:latin typeface="Arial"/>
              </a:rPr>
              <a:t>26,042 frames. Drift first quarter to last: +1.4%. Temperature flat at 68 C, clock never left 2.4 GHz, 4.05 W median.</a:t>
            </a:r>
          </a:p>
          <a:p>
            <a:pPr algn="l">
              <a:lnSpc>
                <a:spcPct val="125000"/>
              </a:lnSpc>
              <a:spcAft>
                <a:spcPts val="600"/>
              </a:spcAft>
              <a:defRPr sz="600" b="0">
                <a:solidFill>
                  <a:srgbClr val="1A1D21"/>
                </a:solidFill>
                <a:latin typeface="Arial"/>
              </a:defRPr>
            </a:pPr>
          </a:p>
          <a:p>
            <a:pPr algn="l">
              <a:lnSpc>
                <a:spcPct val="125000"/>
              </a:lnSpc>
              <a:spcAft>
                <a:spcPts val="600"/>
              </a:spcAft>
            </a:pPr>
            <a:r>
              <a:rPr sz="1300" b="1">
                <a:solidFill>
                  <a:srgbClr val="1A1D21"/>
                </a:solidFill>
                <a:latin typeface="Arial"/>
              </a:rPr>
              <a:t>43.4 FPS is the figure to plan a robot around; 56 belongs to the leaderboard.</a:t>
            </a:r>
          </a:p>
        </p:txBody>
      </p:sp>
      <p:sp>
        <p:nvSpPr>
          <p:cNvPr id="9" name="TextBox 8"/>
          <p:cNvSpPr txBox="1"/>
          <p:nvPr/>
        </p:nvSpPr>
        <p:spPr>
          <a:xfrm>
            <a:off x="11002975" y="6382512"/>
            <a:ext cx="548640" cy="274320"/>
          </a:xfrm>
          <a:prstGeom prst="rect">
            <a:avLst/>
          </a:prstGeom>
          <a:noFill/>
        </p:spPr>
        <p:txBody>
          <a:bodyPr wrap="square" lIns="0" rIns="0" tIns="0" bIns="0">
            <a:spAutoFit/>
          </a:bodyPr>
          <a:lstStyle/>
          <a:p>
            <a:pPr algn="r">
              <a:lnSpc>
                <a:spcPct val="125000"/>
              </a:lnSpc>
              <a:spcAft>
                <a:spcPts val="600"/>
              </a:spcAft>
            </a:pPr>
            <a:r>
              <a:rPr sz="1100" b="0">
                <a:solidFill>
                  <a:srgbClr val="5F6763"/>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spAutoFit/>
          </a:bodyPr>
          <a:lstStyle/>
          <a:p>
            <a:pPr algn="l">
              <a:lnSpc>
                <a:spcPct val="125000"/>
              </a:lnSpc>
              <a:spcAft>
                <a:spcPts val="600"/>
              </a:spcAft>
            </a:pPr>
            <a:r>
              <a:rPr sz="1100" b="1">
                <a:solidFill>
                  <a:srgbClr val="C2701C"/>
                </a:solidFill>
                <a:latin typeface="Arial"/>
              </a:rPr>
              <a:t>5 · RESULT</a:t>
            </a:r>
          </a:p>
        </p:txBody>
      </p:sp>
      <p:sp>
        <p:nvSpPr>
          <p:cNvPr id="3" name="TextBox 2"/>
          <p:cNvSpPr txBox="1"/>
          <p:nvPr/>
        </p:nvSpPr>
        <p:spPr>
          <a:xfrm>
            <a:off x="658368" y="713232"/>
            <a:ext cx="10874959" cy="640080"/>
          </a:xfrm>
          <a:prstGeom prst="rect">
            <a:avLst/>
          </a:prstGeom>
          <a:noFill/>
        </p:spPr>
        <p:txBody>
          <a:bodyPr wrap="square" lIns="0" rIns="0" tIns="0" bIns="0">
            <a:spAutoFit/>
          </a:bodyPr>
          <a:lstStyle/>
          <a:p>
            <a:pPr algn="l">
              <a:lnSpc>
                <a:spcPct val="125000"/>
              </a:lnSpc>
              <a:spcAft>
                <a:spcPts val="600"/>
              </a:spcAft>
            </a:pPr>
            <a:r>
              <a:rPr sz="3000" b="1">
                <a:solidFill>
                  <a:srgbClr val="1A1D21"/>
                </a:solidFill>
                <a:latin typeface="Arial"/>
              </a:rPr>
              <a:t>What INT8 quantisation costs</a:t>
            </a:r>
          </a:p>
        </p:txBody>
      </p:sp>
      <p:sp>
        <p:nvSpPr>
          <p:cNvPr id="4" name="TextBox 3"/>
          <p:cNvSpPr txBox="1"/>
          <p:nvPr/>
        </p:nvSpPr>
        <p:spPr>
          <a:xfrm>
            <a:off x="658368" y="1389888"/>
            <a:ext cx="10874959" cy="411480"/>
          </a:xfrm>
          <a:prstGeom prst="rect">
            <a:avLst/>
          </a:prstGeom>
          <a:noFill/>
        </p:spPr>
        <p:txBody>
          <a:bodyPr wrap="square" lIns="0" rIns="0" tIns="0" bIns="0">
            <a:spAutoFit/>
          </a:bodyPr>
          <a:lstStyle/>
          <a:p>
            <a:pPr algn="l">
              <a:lnSpc>
                <a:spcPct val="125000"/>
              </a:lnSpc>
              <a:spcAft>
                <a:spcPts val="600"/>
              </a:spcAft>
            </a:pPr>
            <a:r>
              <a:rPr sz="1500" b="0">
                <a:solidFill>
                  <a:srgbClr val="5F6763"/>
                </a:solidFill>
                <a:latin typeface="Arial"/>
              </a:rPr>
              <a:t>All FP32 and FP16 cells score 0.856 mAP50-95. That is the reference.</a:t>
            </a:r>
          </a:p>
        </p:txBody>
      </p:sp>
      <p:sp>
        <p:nvSpPr>
          <p:cNvPr id="5" name="Rectangle 4"/>
          <p:cNvSpPr/>
          <p:nvPr/>
        </p:nvSpPr>
        <p:spPr>
          <a:xfrm>
            <a:off x="658368" y="1847088"/>
            <a:ext cx="10874959" cy="15240"/>
          </a:xfrm>
          <a:prstGeom prst="rect">
            <a:avLst/>
          </a:prstGeom>
          <a:solidFill>
            <a:srgbClr val="D8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2084832"/>
          <a:ext cx="6583680" cy="1728216"/>
        </p:xfrm>
        <a:graphic>
          <a:graphicData uri="http://schemas.openxmlformats.org/drawingml/2006/table">
            <a:tbl>
              <a:tblPr firstRow="1" bandRow="1">
                <a:tableStyleId>{5C22544A-7EE6-4342-B048-85BDC9FD1C3A}</a:tableStyleId>
              </a:tblPr>
              <a:tblGrid>
                <a:gridCol w="1554480"/>
                <a:gridCol w="1737360"/>
                <a:gridCol w="1188720"/>
                <a:gridCol w="2103120"/>
              </a:tblGrid>
              <a:tr h="310896">
                <a:tc>
                  <a:txBody>
                    <a:bodyPr/>
                    <a:lstStyle/>
                    <a:p>
                      <a:pPr algn="l"/>
                      <a:r>
                        <a:rPr sz="1200" b="1">
                          <a:solidFill>
                            <a:srgbClr val="FFFFFF"/>
                          </a:solidFill>
                          <a:latin typeface="Arial"/>
                        </a:rPr>
                        <a:t>Backend</a:t>
                      </a:r>
                    </a:p>
                  </a:txBody>
                  <a:tcPr anchor="ctr" marL="73152" marR="73152" marT="0" marB="0">
                    <a:solidFill>
                      <a:srgbClr val="1A1D21"/>
                    </a:solidFill>
                  </a:tcPr>
                </a:tc>
                <a:tc>
                  <a:txBody>
                    <a:bodyPr/>
                    <a:lstStyle/>
                    <a:p>
                      <a:pPr algn="l"/>
                      <a:r>
                        <a:rPr sz="1200" b="1">
                          <a:solidFill>
                            <a:srgbClr val="FFFFFF"/>
                          </a:solidFill>
                          <a:latin typeface="Arial"/>
                        </a:rPr>
                        <a:t>INT8 mAP50-95</a:t>
                      </a:r>
                    </a:p>
                  </a:txBody>
                  <a:tcPr anchor="ctr" marL="73152" marR="73152" marT="0" marB="0">
                    <a:solidFill>
                      <a:srgbClr val="1A1D21"/>
                    </a:solidFill>
                  </a:tcPr>
                </a:tc>
                <a:tc>
                  <a:txBody>
                    <a:bodyPr/>
                    <a:lstStyle/>
                    <a:p>
                      <a:pPr algn="l"/>
                      <a:r>
                        <a:rPr sz="1200" b="1">
                          <a:solidFill>
                            <a:srgbClr val="FFFFFF"/>
                          </a:solidFill>
                          <a:latin typeface="Arial"/>
                        </a:rPr>
                        <a:t>Loss</a:t>
                      </a:r>
                    </a:p>
                  </a:txBody>
                  <a:tcPr anchor="ctr" marL="73152" marR="73152" marT="0" marB="0">
                    <a:solidFill>
                      <a:srgbClr val="1A1D21"/>
                    </a:solidFill>
                  </a:tcPr>
                </a:tc>
                <a:tc>
                  <a:txBody>
                    <a:bodyPr/>
                    <a:lstStyle/>
                    <a:p>
                      <a:pPr algn="l"/>
                      <a:r>
                        <a:rPr sz="1200" b="1">
                          <a:solidFill>
                            <a:srgbClr val="FFFFFF"/>
                          </a:solidFill>
                          <a:latin typeface="Arial"/>
                        </a:rPr>
                        <a:t>Real INT8 compute?</a:t>
                      </a:r>
                    </a:p>
                  </a:txBody>
                  <a:tcPr anchor="ctr" marL="73152" marR="73152" marT="0" marB="0">
                    <a:solidFill>
                      <a:srgbClr val="1A1D21"/>
                    </a:solidFill>
                  </a:tcPr>
                </a:tc>
              </a:tr>
              <a:tr h="283464">
                <a:tc>
                  <a:txBody>
                    <a:bodyPr/>
                    <a:lstStyle/>
                    <a:p>
                      <a:pPr algn="l"/>
                      <a:r>
                        <a:rPr sz="1300" b="1">
                          <a:solidFill>
                            <a:srgbClr val="1A1D21"/>
                          </a:solidFill>
                          <a:latin typeface="Arial"/>
                        </a:rPr>
                        <a:t>Hailo-8</a:t>
                      </a:r>
                    </a:p>
                  </a:txBody>
                  <a:tcPr anchor="ctr" marL="73152" marR="73152" marT="0" marB="0">
                    <a:solidFill>
                      <a:srgbClr val="FAEEDE"/>
                    </a:solidFill>
                  </a:tcPr>
                </a:tc>
                <a:tc>
                  <a:txBody>
                    <a:bodyPr/>
                    <a:lstStyle/>
                    <a:p>
                      <a:pPr algn="r"/>
                      <a:r>
                        <a:rPr sz="1300" b="1">
                          <a:solidFill>
                            <a:srgbClr val="1A1D21"/>
                          </a:solidFill>
                          <a:latin typeface="Consolas"/>
                        </a:rPr>
                        <a:t>0.851</a:t>
                      </a:r>
                    </a:p>
                  </a:txBody>
                  <a:tcPr anchor="ctr" marL="73152" marR="73152" marT="0" marB="0">
                    <a:solidFill>
                      <a:srgbClr val="FAEEDE"/>
                    </a:solidFill>
                  </a:tcPr>
                </a:tc>
                <a:tc>
                  <a:txBody>
                    <a:bodyPr/>
                    <a:lstStyle/>
                    <a:p>
                      <a:pPr algn="r"/>
                      <a:r>
                        <a:rPr sz="1300" b="1">
                          <a:solidFill>
                            <a:srgbClr val="1A1D21"/>
                          </a:solidFill>
                          <a:latin typeface="Consolas"/>
                        </a:rPr>
                        <a:t>-0.6%</a:t>
                      </a:r>
                    </a:p>
                  </a:txBody>
                  <a:tcPr anchor="ctr" marL="73152" marR="73152" marT="0" marB="0">
                    <a:solidFill>
                      <a:srgbClr val="FAEEDE"/>
                    </a:solidFill>
                  </a:tcPr>
                </a:tc>
                <a:tc>
                  <a:txBody>
                    <a:bodyPr/>
                    <a:lstStyle/>
                    <a:p>
                      <a:pPr algn="l"/>
                      <a:r>
                        <a:rPr sz="1300" b="1">
                          <a:solidFill>
                            <a:srgbClr val="1A1D21"/>
                          </a:solidFill>
                          <a:latin typeface="Consolas"/>
                        </a:rPr>
                        <a:t>yes</a:t>
                      </a:r>
                    </a:p>
                  </a:txBody>
                  <a:tcPr anchor="ctr" marL="73152" marR="73152" marT="0" marB="0">
                    <a:solidFill>
                      <a:srgbClr val="FAEEDE"/>
                    </a:solidFill>
                  </a:tcPr>
                </a:tc>
              </a:tr>
              <a:tr h="283464">
                <a:tc>
                  <a:txBody>
                    <a:bodyPr/>
                    <a:lstStyle/>
                    <a:p>
                      <a:pPr algn="l"/>
                      <a:r>
                        <a:rPr sz="1300" b="0">
                          <a:solidFill>
                            <a:srgbClr val="1A1D21"/>
                          </a:solidFill>
                          <a:latin typeface="Arial"/>
                        </a:rPr>
                        <a:t>MNN</a:t>
                      </a:r>
                    </a:p>
                  </a:txBody>
                  <a:tcPr anchor="ctr" marL="73152" marR="73152" marT="0" marB="0">
                    <a:solidFill>
                      <a:srgbClr val="F2F3F1"/>
                    </a:solidFill>
                  </a:tcPr>
                </a:tc>
                <a:tc>
                  <a:txBody>
                    <a:bodyPr/>
                    <a:lstStyle/>
                    <a:p>
                      <a:pPr algn="r"/>
                      <a:r>
                        <a:rPr sz="1300" b="0">
                          <a:solidFill>
                            <a:srgbClr val="1A1D21"/>
                          </a:solidFill>
                          <a:latin typeface="Consolas"/>
                        </a:rPr>
                        <a:t>0.847</a:t>
                      </a:r>
                    </a:p>
                  </a:txBody>
                  <a:tcPr anchor="ctr" marL="73152" marR="73152" marT="0" marB="0">
                    <a:solidFill>
                      <a:srgbClr val="F2F3F1"/>
                    </a:solidFill>
                  </a:tcPr>
                </a:tc>
                <a:tc>
                  <a:txBody>
                    <a:bodyPr/>
                    <a:lstStyle/>
                    <a:p>
                      <a:pPr algn="r"/>
                      <a:r>
                        <a:rPr sz="1300" b="0">
                          <a:solidFill>
                            <a:srgbClr val="1A1D21"/>
                          </a:solidFill>
                          <a:latin typeface="Consolas"/>
                        </a:rPr>
                        <a:t>-1.1%</a:t>
                      </a:r>
                    </a:p>
                  </a:txBody>
                  <a:tcPr anchor="ctr" marL="73152" marR="73152" marT="0" marB="0">
                    <a:solidFill>
                      <a:srgbClr val="F2F3F1"/>
                    </a:solidFill>
                  </a:tcPr>
                </a:tc>
                <a:tc>
                  <a:txBody>
                    <a:bodyPr/>
                    <a:lstStyle/>
                    <a:p>
                      <a:pPr algn="l"/>
                      <a:r>
                        <a:rPr sz="1300" b="0">
                          <a:solidFill>
                            <a:srgbClr val="1A1D21"/>
                          </a:solidFill>
                          <a:latin typeface="Consolas"/>
                        </a:rPr>
                        <a:t>no - weight-only</a:t>
                      </a:r>
                    </a:p>
                  </a:txBody>
                  <a:tcPr anchor="ctr" marL="73152" marR="73152" marT="0" marB="0">
                    <a:solidFill>
                      <a:srgbClr val="F2F3F1"/>
                    </a:solidFill>
                  </a:tcPr>
                </a:tc>
              </a:tr>
              <a:tr h="283464">
                <a:tc>
                  <a:txBody>
                    <a:bodyPr/>
                    <a:lstStyle/>
                    <a:p>
                      <a:pPr algn="l"/>
                      <a:r>
                        <a:rPr sz="1300" b="0">
                          <a:solidFill>
                            <a:srgbClr val="1A1D21"/>
                          </a:solidFill>
                          <a:latin typeface="Arial"/>
                        </a:rPr>
                        <a:t>OpenVINO</a:t>
                      </a:r>
                    </a:p>
                  </a:txBody>
                  <a:tcPr anchor="ctr" marL="73152" marR="73152" marT="0" marB="0">
                    <a:solidFill>
                      <a:srgbClr val="FFFFFF"/>
                    </a:solidFill>
                  </a:tcPr>
                </a:tc>
                <a:tc>
                  <a:txBody>
                    <a:bodyPr/>
                    <a:lstStyle/>
                    <a:p>
                      <a:pPr algn="r"/>
                      <a:r>
                        <a:rPr sz="1300" b="0">
                          <a:solidFill>
                            <a:srgbClr val="1A1D21"/>
                          </a:solidFill>
                          <a:latin typeface="Consolas"/>
                        </a:rPr>
                        <a:t>0.830</a:t>
                      </a:r>
                    </a:p>
                  </a:txBody>
                  <a:tcPr anchor="ctr" marL="73152" marR="73152" marT="0" marB="0">
                    <a:solidFill>
                      <a:srgbClr val="FFFFFF"/>
                    </a:solidFill>
                  </a:tcPr>
                </a:tc>
                <a:tc>
                  <a:txBody>
                    <a:bodyPr/>
                    <a:lstStyle/>
                    <a:p>
                      <a:pPr algn="r"/>
                      <a:r>
                        <a:rPr sz="1300" b="0">
                          <a:solidFill>
                            <a:srgbClr val="1A1D21"/>
                          </a:solidFill>
                          <a:latin typeface="Consolas"/>
                        </a:rPr>
                        <a:t>-3.0%</a:t>
                      </a:r>
                    </a:p>
                  </a:txBody>
                  <a:tcPr anchor="ctr" marL="73152" marR="73152" marT="0" marB="0">
                    <a:solidFill>
                      <a:srgbClr val="FFFFFF"/>
                    </a:solidFill>
                  </a:tcPr>
                </a:tc>
                <a:tc>
                  <a:txBody>
                    <a:bodyPr/>
                    <a:lstStyle/>
                    <a:p>
                      <a:pPr algn="l"/>
                      <a:r>
                        <a:rPr sz="1300" b="0">
                          <a:solidFill>
                            <a:srgbClr val="1A1D21"/>
                          </a:solidFill>
                          <a:latin typeface="Consolas"/>
                        </a:rPr>
                        <a:t>no - float sim on Arm</a:t>
                      </a:r>
                    </a:p>
                  </a:txBody>
                  <a:tcPr anchor="ctr" marL="73152" marR="73152" marT="0" marB="0">
                    <a:solidFill>
                      <a:srgbClr val="FFFFFF"/>
                    </a:solidFill>
                  </a:tcPr>
                </a:tc>
              </a:tr>
              <a:tr h="283464">
                <a:tc>
                  <a:txBody>
                    <a:bodyPr/>
                    <a:lstStyle/>
                    <a:p>
                      <a:pPr algn="l"/>
                      <a:r>
                        <a:rPr sz="1300" b="0">
                          <a:solidFill>
                            <a:srgbClr val="1A1D21"/>
                          </a:solidFill>
                          <a:latin typeface="Arial"/>
                        </a:rPr>
                        <a:t>ONNX</a:t>
                      </a:r>
                    </a:p>
                  </a:txBody>
                  <a:tcPr anchor="ctr" marL="73152" marR="73152" marT="0" marB="0">
                    <a:solidFill>
                      <a:srgbClr val="F2F3F1"/>
                    </a:solidFill>
                  </a:tcPr>
                </a:tc>
                <a:tc>
                  <a:txBody>
                    <a:bodyPr/>
                    <a:lstStyle/>
                    <a:p>
                      <a:pPr algn="r"/>
                      <a:r>
                        <a:rPr sz="1300" b="0">
                          <a:solidFill>
                            <a:srgbClr val="1A1D21"/>
                          </a:solidFill>
                          <a:latin typeface="Consolas"/>
                        </a:rPr>
                        <a:t>0.805</a:t>
                      </a:r>
                    </a:p>
                  </a:txBody>
                  <a:tcPr anchor="ctr" marL="73152" marR="73152" marT="0" marB="0">
                    <a:solidFill>
                      <a:srgbClr val="F2F3F1"/>
                    </a:solidFill>
                  </a:tcPr>
                </a:tc>
                <a:tc>
                  <a:txBody>
                    <a:bodyPr/>
                    <a:lstStyle/>
                    <a:p>
                      <a:pPr algn="r"/>
                      <a:r>
                        <a:rPr sz="1300" b="0">
                          <a:solidFill>
                            <a:srgbClr val="1A1D21"/>
                          </a:solidFill>
                          <a:latin typeface="Consolas"/>
                        </a:rPr>
                        <a:t>-6.0%</a:t>
                      </a:r>
                    </a:p>
                  </a:txBody>
                  <a:tcPr anchor="ctr" marL="73152" marR="73152" marT="0" marB="0">
                    <a:solidFill>
                      <a:srgbClr val="F2F3F1"/>
                    </a:solidFill>
                  </a:tcPr>
                </a:tc>
                <a:tc>
                  <a:txBody>
                    <a:bodyPr/>
                    <a:lstStyle/>
                    <a:p>
                      <a:pPr algn="l"/>
                      <a:r>
                        <a:rPr sz="1300" b="0">
                          <a:solidFill>
                            <a:srgbClr val="1A1D21"/>
                          </a:solidFill>
                          <a:latin typeface="Consolas"/>
                        </a:rPr>
                        <a:t>no</a:t>
                      </a:r>
                    </a:p>
                  </a:txBody>
                  <a:tcPr anchor="ctr" marL="73152" marR="73152" marT="0" marB="0">
                    <a:solidFill>
                      <a:srgbClr val="F2F3F1"/>
                    </a:solidFill>
                  </a:tcPr>
                </a:tc>
              </a:tr>
              <a:tr h="283464">
                <a:tc>
                  <a:txBody>
                    <a:bodyPr/>
                    <a:lstStyle/>
                    <a:p>
                      <a:pPr algn="l"/>
                      <a:r>
                        <a:rPr sz="1300" b="0">
                          <a:solidFill>
                            <a:srgbClr val="1A1D21"/>
                          </a:solidFill>
                          <a:latin typeface="Arial"/>
                        </a:rPr>
                        <a:t>LiteRT</a:t>
                      </a:r>
                    </a:p>
                  </a:txBody>
                  <a:tcPr anchor="ctr" marL="73152" marR="73152" marT="0" marB="0">
                    <a:solidFill>
                      <a:srgbClr val="FFFFFF"/>
                    </a:solidFill>
                  </a:tcPr>
                </a:tc>
                <a:tc>
                  <a:txBody>
                    <a:bodyPr/>
                    <a:lstStyle/>
                    <a:p>
                      <a:pPr algn="r"/>
                      <a:r>
                        <a:rPr sz="1300" b="0">
                          <a:solidFill>
                            <a:srgbClr val="1A1D21"/>
                          </a:solidFill>
                          <a:latin typeface="Consolas"/>
                        </a:rPr>
                        <a:t>0.732</a:t>
                      </a:r>
                    </a:p>
                  </a:txBody>
                  <a:tcPr anchor="ctr" marL="73152" marR="73152" marT="0" marB="0">
                    <a:solidFill>
                      <a:srgbClr val="FFFFFF"/>
                    </a:solidFill>
                  </a:tcPr>
                </a:tc>
                <a:tc>
                  <a:txBody>
                    <a:bodyPr/>
                    <a:lstStyle/>
                    <a:p>
                      <a:pPr algn="r"/>
                      <a:r>
                        <a:rPr sz="1300" b="0">
                          <a:solidFill>
                            <a:srgbClr val="1A1D21"/>
                          </a:solidFill>
                          <a:latin typeface="Consolas"/>
                        </a:rPr>
                        <a:t>-14.5%</a:t>
                      </a:r>
                    </a:p>
                  </a:txBody>
                  <a:tcPr anchor="ctr" marL="73152" marR="73152" marT="0" marB="0">
                    <a:solidFill>
                      <a:srgbClr val="FFFFFF"/>
                    </a:solidFill>
                  </a:tcPr>
                </a:tc>
                <a:tc>
                  <a:txBody>
                    <a:bodyPr/>
                    <a:lstStyle/>
                    <a:p>
                      <a:pPr algn="l"/>
                      <a:r>
                        <a:rPr sz="1300" b="0">
                          <a:solidFill>
                            <a:srgbClr val="1A1D21"/>
                          </a:solidFill>
                          <a:latin typeface="Consolas"/>
                        </a:rPr>
                        <a:t>yes - XNNPACK</a:t>
                      </a:r>
                    </a:p>
                  </a:txBody>
                  <a:tcPr anchor="ctr" marL="73152" marR="73152" marT="0" marB="0">
                    <a:solidFill>
                      <a:srgbClr val="FFFFFF"/>
                    </a:solidFill>
                  </a:tcPr>
                </a:tc>
              </a:tr>
            </a:tbl>
          </a:graphicData>
        </a:graphic>
      </p:graphicFrame>
      <p:sp>
        <p:nvSpPr>
          <p:cNvPr id="7" name="TextBox 6"/>
          <p:cNvSpPr txBox="1"/>
          <p:nvPr/>
        </p:nvSpPr>
        <p:spPr>
          <a:xfrm>
            <a:off x="658368" y="3959351"/>
            <a:ext cx="6583680" cy="1097280"/>
          </a:xfrm>
          <a:prstGeom prst="rect">
            <a:avLst/>
          </a:prstGeom>
          <a:noFill/>
        </p:spPr>
        <p:txBody>
          <a:bodyPr wrap="square" lIns="0" rIns="0" tIns="0" bIns="0">
            <a:spAutoFit/>
          </a:bodyPr>
          <a:lstStyle/>
          <a:p>
            <a:pPr algn="l">
              <a:lnSpc>
                <a:spcPct val="125000"/>
              </a:lnSpc>
              <a:spcAft>
                <a:spcPts val="600"/>
              </a:spcAft>
            </a:pPr>
            <a:r>
              <a:rPr sz="1600" b="1">
                <a:solidFill>
                  <a:srgbClr val="1A1D21"/>
                </a:solidFill>
                <a:latin typeface="Arial"/>
              </a:rPr>
              <a:t>Only the accelerator buys both size and speed.</a:t>
            </a:r>
          </a:p>
          <a:p>
            <a:pPr algn="l">
              <a:lnSpc>
                <a:spcPct val="125000"/>
              </a:lnSpc>
              <a:spcAft>
                <a:spcPts val="600"/>
              </a:spcAft>
            </a:pPr>
            <a:r>
              <a:rPr sz="1300" b="0">
                <a:solidFill>
                  <a:srgbClr val="5F6763"/>
                </a:solidFill>
                <a:latin typeface="Arial"/>
              </a:rPr>
              <a:t>MNN matches it on accuracy but not latency; LiteRT is fast but is the only path losing real accuracy.</a:t>
            </a:r>
          </a:p>
        </p:txBody>
      </p:sp>
      <p:sp>
        <p:nvSpPr>
          <p:cNvPr id="8" name="TextBox 7"/>
          <p:cNvSpPr txBox="1"/>
          <p:nvPr/>
        </p:nvSpPr>
        <p:spPr>
          <a:xfrm>
            <a:off x="7699248" y="2084832"/>
            <a:ext cx="4389120" cy="3108960"/>
          </a:xfrm>
          <a:prstGeom prst="rect">
            <a:avLst/>
          </a:prstGeom>
          <a:noFill/>
        </p:spPr>
        <p:txBody>
          <a:bodyPr wrap="square" lIns="0" rIns="0" tIns="0" bIns="0">
            <a:spAutoFit/>
          </a:bodyPr>
          <a:lstStyle/>
          <a:p>
            <a:pPr algn="l">
              <a:lnSpc>
                <a:spcPct val="125000"/>
              </a:lnSpc>
              <a:spcAft>
                <a:spcPts val="600"/>
              </a:spcAft>
            </a:pPr>
            <a:r>
              <a:rPr sz="1700" b="1">
                <a:solidFill>
                  <a:srgbClr val="C2701C"/>
                </a:solidFill>
                <a:latin typeface="Arial"/>
              </a:rPr>
              <a:t>A previous conclusion was wrong</a:t>
            </a:r>
          </a:p>
          <a:p>
            <a:pPr algn="l">
              <a:lnSpc>
                <a:spcPct val="125000"/>
              </a:lnSpc>
              <a:spcAft>
                <a:spcPts val="600"/>
              </a:spcAft>
            </a:pPr>
            <a:r>
              <a:rPr sz="1300" b="0">
                <a:solidFill>
                  <a:srgbClr val="5F6763"/>
                </a:solidFill>
                <a:latin typeface="Arial"/>
              </a:rPr>
              <a:t>Earlier work concluded "INT8 is dead for this project" because LiteRT lost 34% of its accuracy. That write-up also flagged its own doubt: the calibration set was only 510 images.</a:t>
            </a:r>
          </a:p>
          <a:p>
            <a:pPr algn="l">
              <a:lnSpc>
                <a:spcPct val="125000"/>
              </a:lnSpc>
              <a:spcAft>
                <a:spcPts val="600"/>
              </a:spcAft>
              <a:defRPr sz="600" b="0">
                <a:solidFill>
                  <a:srgbClr val="1A1D21"/>
                </a:solidFill>
                <a:latin typeface="Arial"/>
              </a:defRPr>
            </a:pPr>
          </a:p>
          <a:p>
            <a:pPr algn="l">
              <a:lnSpc>
                <a:spcPct val="125000"/>
              </a:lnSpc>
              <a:spcAft>
                <a:spcPts val="600"/>
              </a:spcAft>
            </a:pPr>
            <a:r>
              <a:rPr sz="1300" b="1">
                <a:solidFill>
                  <a:srgbClr val="1A1D21"/>
                </a:solidFill>
                <a:latin typeface="Arial"/>
              </a:rPr>
              <a:t>Re-run with 2,550 calibration images:</a:t>
            </a:r>
          </a:p>
          <a:p>
            <a:pPr algn="l">
              <a:lnSpc>
                <a:spcPct val="125000"/>
              </a:lnSpc>
              <a:spcAft>
                <a:spcPts val="600"/>
              </a:spcAft>
            </a:pPr>
            <a:r>
              <a:rPr sz="1700" b="1">
                <a:solidFill>
                  <a:srgbClr val="1A1D21"/>
                </a:solidFill>
                <a:latin typeface="Consolas"/>
              </a:rPr>
              <a:t>LiteRT   -34%  -&gt;  -4.0%</a:t>
            </a:r>
          </a:p>
          <a:p>
            <a:pPr algn="l">
              <a:lnSpc>
                <a:spcPct val="125000"/>
              </a:lnSpc>
              <a:spcAft>
                <a:spcPts val="600"/>
              </a:spcAft>
            </a:pPr>
            <a:r>
              <a:rPr sz="1700" b="1">
                <a:solidFill>
                  <a:srgbClr val="1A1D21"/>
                </a:solidFill>
                <a:latin typeface="Consolas"/>
              </a:rPr>
              <a:t>ONNX     -16%  -&gt;   0.0%</a:t>
            </a:r>
          </a:p>
          <a:p>
            <a:pPr algn="l">
              <a:lnSpc>
                <a:spcPct val="125000"/>
              </a:lnSpc>
              <a:spcAft>
                <a:spcPts val="600"/>
              </a:spcAft>
            </a:pPr>
            <a:r>
              <a:rPr sz="1300" b="0">
                <a:solidFill>
                  <a:srgbClr val="5F6763"/>
                </a:solidFill>
                <a:latin typeface="Arial"/>
              </a:rPr>
              <a:t>Most of the collapse was the calibration set, not the runtime.</a:t>
            </a:r>
          </a:p>
        </p:txBody>
      </p:sp>
      <p:sp>
        <p:nvSpPr>
          <p:cNvPr id="9" name="TextBox 8"/>
          <p:cNvSpPr txBox="1"/>
          <p:nvPr/>
        </p:nvSpPr>
        <p:spPr>
          <a:xfrm>
            <a:off x="11002975" y="6382512"/>
            <a:ext cx="548640" cy="274320"/>
          </a:xfrm>
          <a:prstGeom prst="rect">
            <a:avLst/>
          </a:prstGeom>
          <a:noFill/>
        </p:spPr>
        <p:txBody>
          <a:bodyPr wrap="square" lIns="0" rIns="0" tIns="0" bIns="0">
            <a:spAutoFit/>
          </a:bodyPr>
          <a:lstStyle/>
          <a:p>
            <a:pPr algn="r">
              <a:lnSpc>
                <a:spcPct val="125000"/>
              </a:lnSpc>
              <a:spcAft>
                <a:spcPts val="600"/>
              </a:spcAft>
            </a:pPr>
            <a:r>
              <a:rPr sz="1100" b="0">
                <a:solidFill>
                  <a:srgbClr val="5F6763"/>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spAutoFit/>
          </a:bodyPr>
          <a:lstStyle/>
          <a:p>
            <a:pPr algn="l">
              <a:lnSpc>
                <a:spcPct val="125000"/>
              </a:lnSpc>
              <a:spcAft>
                <a:spcPts val="600"/>
              </a:spcAft>
            </a:pPr>
            <a:r>
              <a:rPr sz="1100" b="1">
                <a:solidFill>
                  <a:srgbClr val="C2701C"/>
                </a:solidFill>
                <a:latin typeface="Arial"/>
              </a:rPr>
              <a:t>6 · FINDING</a:t>
            </a:r>
          </a:p>
        </p:txBody>
      </p:sp>
      <p:sp>
        <p:nvSpPr>
          <p:cNvPr id="3" name="TextBox 2"/>
          <p:cNvSpPr txBox="1"/>
          <p:nvPr/>
        </p:nvSpPr>
        <p:spPr>
          <a:xfrm>
            <a:off x="658368" y="713232"/>
            <a:ext cx="10874959" cy="640080"/>
          </a:xfrm>
          <a:prstGeom prst="rect">
            <a:avLst/>
          </a:prstGeom>
          <a:noFill/>
        </p:spPr>
        <p:txBody>
          <a:bodyPr wrap="square" lIns="0" rIns="0" tIns="0" bIns="0">
            <a:spAutoFit/>
          </a:bodyPr>
          <a:lstStyle/>
          <a:p>
            <a:pPr algn="l">
              <a:lnSpc>
                <a:spcPct val="125000"/>
              </a:lnSpc>
              <a:spcAft>
                <a:spcPts val="600"/>
              </a:spcAft>
            </a:pPr>
            <a:r>
              <a:rPr sz="3000" b="1">
                <a:solidFill>
                  <a:srgbClr val="1A1D21"/>
                </a:solidFill>
                <a:latin typeface="Arial"/>
              </a:rPr>
              <a:t>Pointed at real fasteners, it detected almost nothing</a:t>
            </a:r>
          </a:p>
        </p:txBody>
      </p:sp>
      <p:sp>
        <p:nvSpPr>
          <p:cNvPr id="4" name="TextBox 3"/>
          <p:cNvSpPr txBox="1"/>
          <p:nvPr/>
        </p:nvSpPr>
        <p:spPr>
          <a:xfrm>
            <a:off x="658368" y="1389888"/>
            <a:ext cx="10874959" cy="411480"/>
          </a:xfrm>
          <a:prstGeom prst="rect">
            <a:avLst/>
          </a:prstGeom>
          <a:noFill/>
        </p:spPr>
        <p:txBody>
          <a:bodyPr wrap="square" lIns="0" rIns="0" tIns="0" bIns="0">
            <a:spAutoFit/>
          </a:bodyPr>
          <a:lstStyle/>
          <a:p>
            <a:pPr algn="l">
              <a:lnSpc>
                <a:spcPct val="125000"/>
              </a:lnSpc>
              <a:spcAft>
                <a:spcPts val="600"/>
              </a:spcAft>
            </a:pPr>
            <a:r>
              <a:rPr sz="1500" b="0">
                <a:solidFill>
                  <a:srgbClr val="5F6763"/>
                </a:solidFill>
                <a:latin typeface="Arial"/>
              </a:rPr>
              <a:t>The benchmark said the model was good. The camera said otherwise. Three causes.</a:t>
            </a:r>
          </a:p>
        </p:txBody>
      </p:sp>
      <p:sp>
        <p:nvSpPr>
          <p:cNvPr id="5" name="Rectangle 4"/>
          <p:cNvSpPr/>
          <p:nvPr/>
        </p:nvSpPr>
        <p:spPr>
          <a:xfrm>
            <a:off x="658368" y="1847088"/>
            <a:ext cx="10874959" cy="15240"/>
          </a:xfrm>
          <a:prstGeom prst="rect">
            <a:avLst/>
          </a:prstGeom>
          <a:solidFill>
            <a:srgbClr val="D8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_blurred_screws.jpg"/>
          <p:cNvPicPr>
            <a:picLocks noChangeAspect="1"/>
          </p:cNvPicPr>
          <p:nvPr/>
        </p:nvPicPr>
        <p:blipFill>
          <a:blip r:embed="rId2"/>
          <a:stretch>
            <a:fillRect/>
          </a:stretch>
        </p:blipFill>
        <p:spPr>
          <a:xfrm>
            <a:off x="658368" y="2084832"/>
            <a:ext cx="2103120" cy="3738880"/>
          </a:xfrm>
          <a:prstGeom prst="rect">
            <a:avLst/>
          </a:prstGeom>
        </p:spPr>
      </p:pic>
      <p:sp>
        <p:nvSpPr>
          <p:cNvPr id="7" name="TextBox 6"/>
          <p:cNvSpPr txBox="1"/>
          <p:nvPr/>
        </p:nvSpPr>
        <p:spPr>
          <a:xfrm>
            <a:off x="658368" y="5925312"/>
            <a:ext cx="3108960" cy="548640"/>
          </a:xfrm>
          <a:prstGeom prst="rect">
            <a:avLst/>
          </a:prstGeom>
          <a:noFill/>
        </p:spPr>
        <p:txBody>
          <a:bodyPr wrap="square" lIns="0" rIns="0" tIns="0" bIns="0">
            <a:spAutoFit/>
          </a:bodyPr>
          <a:lstStyle/>
          <a:p>
            <a:pPr algn="l">
              <a:lnSpc>
                <a:spcPct val="125000"/>
              </a:lnSpc>
              <a:spcAft>
                <a:spcPts val="600"/>
              </a:spcAft>
            </a:pPr>
            <a:r>
              <a:rPr sz="1100" b="0">
                <a:solidFill>
                  <a:srgbClr val="5F6763"/>
                </a:solidFill>
                <a:latin typeface="Arial"/>
              </a:rPr>
              <a:t>Two screws, plainly visible to a person, and one junk box. Out of focus - not a model failure.</a:t>
            </a:r>
          </a:p>
        </p:txBody>
      </p:sp>
      <p:sp>
        <p:nvSpPr>
          <p:cNvPr id="8" name="TextBox 7"/>
          <p:cNvSpPr txBox="1"/>
          <p:nvPr/>
        </p:nvSpPr>
        <p:spPr>
          <a:xfrm>
            <a:off x="4315968" y="2084832"/>
            <a:ext cx="7772400" cy="3383280"/>
          </a:xfrm>
          <a:prstGeom prst="rect">
            <a:avLst/>
          </a:prstGeom>
          <a:noFill/>
        </p:spPr>
        <p:txBody>
          <a:bodyPr wrap="square" lIns="0" rIns="0" tIns="0" bIns="0">
            <a:spAutoFit/>
          </a:bodyPr>
          <a:lstStyle/>
          <a:p>
            <a:pPr algn="l">
              <a:lnSpc>
                <a:spcPct val="125000"/>
              </a:lnSpc>
              <a:spcAft>
                <a:spcPts val="1000"/>
              </a:spcAft>
            </a:pPr>
            <a:r>
              <a:rPr sz="1700" b="1">
                <a:solidFill>
                  <a:srgbClr val="1A1D21"/>
                </a:solidFill>
                <a:latin typeface="Arial"/>
              </a:rPr>
              <a:t>1.  The lens was parked at 1.00 m</a:t>
            </a:r>
          </a:p>
          <a:p>
            <a:pPr algn="l">
              <a:lnSpc>
                <a:spcPct val="125000"/>
              </a:lnSpc>
              <a:spcAft>
                <a:spcPts val="1000"/>
              </a:spcAft>
            </a:pPr>
            <a:r>
              <a:rPr sz="1300" b="0">
                <a:solidFill>
                  <a:srgbClr val="5F6763"/>
                </a:solidFill>
                <a:latin typeface="Arial"/>
              </a:rPr>
              <a:t>Autofocus was never enabled - libcamera defaults to manual at one metre, and nothing in our code set it. Every frame ever captured was focused at 1 m regardless of the object. Fixed: focus score 180 -&gt; 757, no frame cost.</a:t>
            </a:r>
          </a:p>
          <a:p>
            <a:pPr algn="l">
              <a:lnSpc>
                <a:spcPct val="125000"/>
              </a:lnSpc>
              <a:spcAft>
                <a:spcPts val="1000"/>
              </a:spcAft>
            </a:pPr>
            <a:r>
              <a:rPr sz="1700" b="1">
                <a:solidFill>
                  <a:srgbClr val="1A1D21"/>
                </a:solidFill>
                <a:latin typeface="Arial"/>
              </a:rPr>
              <a:t>2.  The model had seen ten screws</a:t>
            </a:r>
          </a:p>
          <a:p>
            <a:pPr algn="l">
              <a:lnSpc>
                <a:spcPct val="125000"/>
              </a:lnSpc>
              <a:spcAft>
                <a:spcPts val="1000"/>
              </a:spcAft>
            </a:pPr>
            <a:r>
              <a:rPr sz="1300" b="0">
                <a:solidFill>
                  <a:srgbClr val="5F6763"/>
                </a:solidFill>
                <a:latin typeface="Arial"/>
              </a:rPr>
              <a:t>The training set was capped at 600 images as a smoke test and never uncapped. Nail and screw - the two objects that failed - were the two weakest classes. Lifting the cap took screws from 10 to 36 instances.</a:t>
            </a:r>
          </a:p>
          <a:p>
            <a:pPr algn="l">
              <a:lnSpc>
                <a:spcPct val="125000"/>
              </a:lnSpc>
              <a:spcAft>
                <a:spcPts val="1000"/>
              </a:spcAft>
            </a:pPr>
            <a:r>
              <a:rPr sz="1700" b="1">
                <a:solidFill>
                  <a:srgbClr val="1A1D21"/>
                </a:solidFill>
                <a:latin typeface="Arial"/>
              </a:rPr>
              <a:t>3.  The data contains no cluttered scenes</a:t>
            </a:r>
          </a:p>
          <a:p>
            <a:pPr algn="l">
              <a:lnSpc>
                <a:spcPct val="125000"/>
              </a:lnSpc>
              <a:spcAft>
                <a:spcPts val="1000"/>
              </a:spcAft>
            </a:pPr>
            <a:r>
              <a:rPr sz="1300" b="0">
                <a:solidFill>
                  <a:srgbClr val="5F6763"/>
                </a:solidFill>
                <a:latin typeface="Arial"/>
              </a:rPr>
              <a:t>See the next slide. This one is not fixable from the public dataset.</a:t>
            </a:r>
          </a:p>
        </p:txBody>
      </p:sp>
      <p:sp>
        <p:nvSpPr>
          <p:cNvPr id="9" name="TextBox 8"/>
          <p:cNvSpPr txBox="1"/>
          <p:nvPr/>
        </p:nvSpPr>
        <p:spPr>
          <a:xfrm>
            <a:off x="4315968" y="5605272"/>
            <a:ext cx="7772400" cy="457200"/>
          </a:xfrm>
          <a:prstGeom prst="rect">
            <a:avLst/>
          </a:prstGeom>
          <a:noFill/>
        </p:spPr>
        <p:txBody>
          <a:bodyPr wrap="square" lIns="0" rIns="0" tIns="0" bIns="0">
            <a:spAutoFit/>
          </a:bodyPr>
          <a:lstStyle/>
          <a:p>
            <a:pPr algn="l">
              <a:lnSpc>
                <a:spcPct val="125000"/>
              </a:lnSpc>
              <a:spcAft>
                <a:spcPts val="600"/>
              </a:spcAft>
            </a:pPr>
            <a:r>
              <a:rPr sz="2000" b="1">
                <a:solidFill>
                  <a:srgbClr val="C2701C"/>
                </a:solidFill>
                <a:latin typeface="Arial"/>
              </a:rPr>
              <a:t>Median detection confidence: 0.534  -&gt;  0.936</a:t>
            </a:r>
          </a:p>
        </p:txBody>
      </p:sp>
      <p:sp>
        <p:nvSpPr>
          <p:cNvPr id="10" name="TextBox 9"/>
          <p:cNvSpPr txBox="1"/>
          <p:nvPr/>
        </p:nvSpPr>
        <p:spPr>
          <a:xfrm>
            <a:off x="11002975" y="6382512"/>
            <a:ext cx="548640" cy="274320"/>
          </a:xfrm>
          <a:prstGeom prst="rect">
            <a:avLst/>
          </a:prstGeom>
          <a:noFill/>
        </p:spPr>
        <p:txBody>
          <a:bodyPr wrap="square" lIns="0" rIns="0" tIns="0" bIns="0">
            <a:spAutoFit/>
          </a:bodyPr>
          <a:lstStyle/>
          <a:p>
            <a:pPr algn="r">
              <a:lnSpc>
                <a:spcPct val="125000"/>
              </a:lnSpc>
              <a:spcAft>
                <a:spcPts val="600"/>
              </a:spcAft>
            </a:pPr>
            <a:r>
              <a:rPr sz="1100" b="0">
                <a:solidFill>
                  <a:srgbClr val="5F6763"/>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spAutoFit/>
          </a:bodyPr>
          <a:lstStyle/>
          <a:p>
            <a:pPr algn="l">
              <a:lnSpc>
                <a:spcPct val="125000"/>
              </a:lnSpc>
              <a:spcAft>
                <a:spcPts val="600"/>
              </a:spcAft>
            </a:pPr>
            <a:r>
              <a:rPr sz="1100" b="1">
                <a:solidFill>
                  <a:srgbClr val="C2701C"/>
                </a:solidFill>
                <a:latin typeface="Arial"/>
              </a:rPr>
              <a:t>7 · RESULT</a:t>
            </a:r>
          </a:p>
        </p:txBody>
      </p:sp>
      <p:sp>
        <p:nvSpPr>
          <p:cNvPr id="3" name="TextBox 2"/>
          <p:cNvSpPr txBox="1"/>
          <p:nvPr/>
        </p:nvSpPr>
        <p:spPr>
          <a:xfrm>
            <a:off x="658368" y="713232"/>
            <a:ext cx="10874959" cy="640080"/>
          </a:xfrm>
          <a:prstGeom prst="rect">
            <a:avLst/>
          </a:prstGeom>
          <a:noFill/>
        </p:spPr>
        <p:txBody>
          <a:bodyPr wrap="square" lIns="0" rIns="0" tIns="0" bIns="0">
            <a:spAutoFit/>
          </a:bodyPr>
          <a:lstStyle/>
          <a:p>
            <a:pPr algn="l">
              <a:lnSpc>
                <a:spcPct val="125000"/>
              </a:lnSpc>
              <a:spcAft>
                <a:spcPts val="600"/>
              </a:spcAft>
            </a:pPr>
            <a:r>
              <a:rPr sz="3000" b="1">
                <a:solidFill>
                  <a:srgbClr val="1A1D21"/>
                </a:solidFill>
                <a:latin typeface="Arial"/>
              </a:rPr>
              <a:t>The same camera, after the fixes</a:t>
            </a:r>
          </a:p>
        </p:txBody>
      </p:sp>
      <p:sp>
        <p:nvSpPr>
          <p:cNvPr id="4" name="TextBox 3"/>
          <p:cNvSpPr txBox="1"/>
          <p:nvPr/>
        </p:nvSpPr>
        <p:spPr>
          <a:xfrm>
            <a:off x="658368" y="1389888"/>
            <a:ext cx="10874959" cy="411480"/>
          </a:xfrm>
          <a:prstGeom prst="rect">
            <a:avLst/>
          </a:prstGeom>
          <a:noFill/>
        </p:spPr>
        <p:txBody>
          <a:bodyPr wrap="square" lIns="0" rIns="0" tIns="0" bIns="0">
            <a:spAutoFit/>
          </a:bodyPr>
          <a:lstStyle/>
          <a:p>
            <a:pPr algn="l">
              <a:lnSpc>
                <a:spcPct val="125000"/>
              </a:lnSpc>
              <a:spcAft>
                <a:spcPts val="600"/>
              </a:spcAft>
            </a:pPr>
            <a:r>
              <a:rPr sz="1500" b="0">
                <a:solidFill>
                  <a:srgbClr val="5F6763"/>
                </a:solidFill>
                <a:latin typeface="Arial"/>
              </a:rPr>
              <a:t>Autofocus enabled, model retrained on 5x the data, unknown class suppressed.</a:t>
            </a:r>
          </a:p>
        </p:txBody>
      </p:sp>
      <p:sp>
        <p:nvSpPr>
          <p:cNvPr id="5" name="Rectangle 4"/>
          <p:cNvSpPr/>
          <p:nvPr/>
        </p:nvSpPr>
        <p:spPr>
          <a:xfrm>
            <a:off x="658368" y="1847088"/>
            <a:ext cx="10874959" cy="15240"/>
          </a:xfrm>
          <a:prstGeom prst="rect">
            <a:avLst/>
          </a:prstGeom>
          <a:solidFill>
            <a:srgbClr val="D8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_detect_after.jpg"/>
          <p:cNvPicPr>
            <a:picLocks noChangeAspect="1"/>
          </p:cNvPicPr>
          <p:nvPr/>
        </p:nvPicPr>
        <p:blipFill>
          <a:blip r:embed="rId2"/>
          <a:stretch>
            <a:fillRect/>
          </a:stretch>
        </p:blipFill>
        <p:spPr>
          <a:xfrm>
            <a:off x="658368" y="2084832"/>
            <a:ext cx="6766560" cy="3806190"/>
          </a:xfrm>
          <a:prstGeom prst="rect">
            <a:avLst/>
          </a:prstGeom>
        </p:spPr>
      </p:pic>
      <p:sp>
        <p:nvSpPr>
          <p:cNvPr id="7" name="TextBox 6"/>
          <p:cNvSpPr txBox="1"/>
          <p:nvPr/>
        </p:nvSpPr>
        <p:spPr>
          <a:xfrm>
            <a:off x="658368" y="6016752"/>
            <a:ext cx="6766560" cy="457200"/>
          </a:xfrm>
          <a:prstGeom prst="rect">
            <a:avLst/>
          </a:prstGeom>
          <a:noFill/>
        </p:spPr>
        <p:txBody>
          <a:bodyPr wrap="square" lIns="0" rIns="0" tIns="0" bIns="0">
            <a:spAutoFit/>
          </a:bodyPr>
          <a:lstStyle/>
          <a:p>
            <a:pPr algn="l">
              <a:lnSpc>
                <a:spcPct val="125000"/>
              </a:lnSpc>
              <a:spcAft>
                <a:spcPts val="600"/>
              </a:spcAft>
            </a:pPr>
            <a:r>
              <a:rPr sz="1100" b="0">
                <a:solidFill>
                  <a:srgbClr val="5F6763"/>
                </a:solidFill>
                <a:latin typeface="Arial"/>
              </a:rPr>
              <a:t>Live frame, Hailo-8 on the Pi. Confidence printed on each box.</a:t>
            </a:r>
          </a:p>
        </p:txBody>
      </p:sp>
      <p:sp>
        <p:nvSpPr>
          <p:cNvPr id="8" name="TextBox 7"/>
          <p:cNvSpPr txBox="1"/>
          <p:nvPr/>
        </p:nvSpPr>
        <p:spPr>
          <a:xfrm>
            <a:off x="7882128" y="2084832"/>
            <a:ext cx="4206240" cy="3931920"/>
          </a:xfrm>
          <a:prstGeom prst="rect">
            <a:avLst/>
          </a:prstGeom>
          <a:noFill/>
        </p:spPr>
        <p:txBody>
          <a:bodyPr wrap="square" lIns="0" rIns="0" tIns="0" bIns="0">
            <a:spAutoFit/>
          </a:bodyPr>
          <a:lstStyle/>
          <a:p>
            <a:pPr algn="l">
              <a:lnSpc>
                <a:spcPct val="125000"/>
              </a:lnSpc>
              <a:spcAft>
                <a:spcPts val="900"/>
              </a:spcAft>
            </a:pPr>
            <a:r>
              <a:rPr sz="2400" b="1">
                <a:solidFill>
                  <a:srgbClr val="C2701C"/>
                </a:solidFill>
                <a:latin typeface="Arial"/>
              </a:rPr>
              <a:t>12 of 12 fasteners found</a:t>
            </a:r>
          </a:p>
          <a:p>
            <a:pPr algn="l">
              <a:lnSpc>
                <a:spcPct val="125000"/>
              </a:lnSpc>
              <a:spcAft>
                <a:spcPts val="900"/>
              </a:spcAft>
            </a:pPr>
            <a:r>
              <a:rPr sz="1400" b="0">
                <a:solidFill>
                  <a:srgbClr val="5F6763"/>
                </a:solidFill>
                <a:latin typeface="Arial"/>
              </a:rPr>
              <a:t>Across two frames, every object detected, boxes tight, confidence 0.42 to 0.87.</a:t>
            </a:r>
          </a:p>
          <a:p>
            <a:pPr algn="l">
              <a:lnSpc>
                <a:spcPct val="125000"/>
              </a:lnSpc>
              <a:spcAft>
                <a:spcPts val="900"/>
              </a:spcAft>
            </a:pPr>
            <a:r>
              <a:rPr sz="1700" b="1">
                <a:solidFill>
                  <a:srgbClr val="1A1D21"/>
                </a:solidFill>
                <a:latin typeface="Arial"/>
              </a:rPr>
              <a:t>Nothing fired on the clutter</a:t>
            </a:r>
          </a:p>
          <a:p>
            <a:pPr algn="l">
              <a:lnSpc>
                <a:spcPct val="125000"/>
              </a:lnSpc>
              <a:spcAft>
                <a:spcPts val="900"/>
              </a:spcAft>
            </a:pPr>
            <a:r>
              <a:rPr sz="1300" b="0">
                <a:solidFill>
                  <a:srgbClr val="5F6763"/>
                </a:solidFill>
                <a:latin typeface="Arial"/>
              </a:rPr>
              <a:t>The bag, cables, glasses and boxes on the left are all ignored. That is the exact failure that produced full-frame boxes before.</a:t>
            </a:r>
          </a:p>
          <a:p>
            <a:pPr algn="l">
              <a:lnSpc>
                <a:spcPct val="125000"/>
              </a:lnSpc>
              <a:spcAft>
                <a:spcPts val="900"/>
              </a:spcAft>
            </a:pPr>
            <a:r>
              <a:rPr sz="1700" b="1">
                <a:solidFill>
                  <a:srgbClr val="1A1D21"/>
                </a:solidFill>
                <a:latin typeface="Arial"/>
              </a:rPr>
              <a:t>Still wrong: the class</a:t>
            </a:r>
          </a:p>
          <a:p>
            <a:pPr algn="l">
              <a:lnSpc>
                <a:spcPct val="125000"/>
              </a:lnSpc>
              <a:spcAft>
                <a:spcPts val="900"/>
              </a:spcAft>
            </a:pPr>
            <a:r>
              <a:rPr sz="1300" b="0">
                <a:solidFill>
                  <a:srgbClr val="5F6763"/>
                </a:solidFill>
                <a:latin typeface="Arial"/>
              </a:rPr>
              <a:t>Screws are labelled bolt. Detection and localisation are solved; naming is not, and 36 screw instances is why.</a:t>
            </a:r>
          </a:p>
          <a:p>
            <a:pPr algn="l">
              <a:lnSpc>
                <a:spcPct val="125000"/>
              </a:lnSpc>
              <a:spcAft>
                <a:spcPts val="900"/>
              </a:spcAft>
            </a:pPr>
            <a:r>
              <a:rPr sz="1200" b="0">
                <a:solidFill>
                  <a:srgbClr val="5F6763"/>
                </a:solidFill>
                <a:latin typeface="Arial"/>
              </a:rPr>
              <a:t>Honest limit: the fasteners sit on a plain sheet, so this is not yet a cluttered-floor test. The clutter is behind them, not around them.</a:t>
            </a:r>
          </a:p>
        </p:txBody>
      </p:sp>
      <p:sp>
        <p:nvSpPr>
          <p:cNvPr id="9" name="TextBox 8"/>
          <p:cNvSpPr txBox="1"/>
          <p:nvPr/>
        </p:nvSpPr>
        <p:spPr>
          <a:xfrm>
            <a:off x="11002975" y="6382512"/>
            <a:ext cx="548640" cy="274320"/>
          </a:xfrm>
          <a:prstGeom prst="rect">
            <a:avLst/>
          </a:prstGeom>
          <a:noFill/>
        </p:spPr>
        <p:txBody>
          <a:bodyPr wrap="square" lIns="0" rIns="0" tIns="0" bIns="0">
            <a:spAutoFit/>
          </a:bodyPr>
          <a:lstStyle/>
          <a:p>
            <a:pPr algn="r">
              <a:lnSpc>
                <a:spcPct val="125000"/>
              </a:lnSpc>
              <a:spcAft>
                <a:spcPts val="600"/>
              </a:spcAft>
            </a:pPr>
            <a:r>
              <a:rPr sz="1100" b="0">
                <a:solidFill>
                  <a:srgbClr val="5F6763"/>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spAutoFit/>
          </a:bodyPr>
          <a:lstStyle/>
          <a:p>
            <a:pPr algn="l">
              <a:lnSpc>
                <a:spcPct val="125000"/>
              </a:lnSpc>
              <a:spcAft>
                <a:spcPts val="600"/>
              </a:spcAft>
            </a:pPr>
            <a:r>
              <a:rPr sz="1100" b="1">
                <a:solidFill>
                  <a:srgbClr val="C2701C"/>
                </a:solidFill>
                <a:latin typeface="Arial"/>
              </a:rPr>
              <a:t>8 · FINDING</a:t>
            </a:r>
          </a:p>
        </p:txBody>
      </p:sp>
      <p:sp>
        <p:nvSpPr>
          <p:cNvPr id="3" name="TextBox 2"/>
          <p:cNvSpPr txBox="1"/>
          <p:nvPr/>
        </p:nvSpPr>
        <p:spPr>
          <a:xfrm>
            <a:off x="658368" y="713232"/>
            <a:ext cx="10874959" cy="640080"/>
          </a:xfrm>
          <a:prstGeom prst="rect">
            <a:avLst/>
          </a:prstGeom>
          <a:noFill/>
        </p:spPr>
        <p:txBody>
          <a:bodyPr wrap="square" lIns="0" rIns="0" tIns="0" bIns="0">
            <a:spAutoFit/>
          </a:bodyPr>
          <a:lstStyle/>
          <a:p>
            <a:pPr algn="l">
              <a:lnSpc>
                <a:spcPct val="125000"/>
              </a:lnSpc>
              <a:spcAft>
                <a:spcPts val="600"/>
              </a:spcAft>
            </a:pPr>
            <a:r>
              <a:rPr sz="3000" b="1">
                <a:solidFill>
                  <a:srgbClr val="1A1D21"/>
                </a:solidFill>
                <a:latin typeface="Arial"/>
              </a:rPr>
              <a:t>The dataset is the ceiling</a:t>
            </a:r>
          </a:p>
        </p:txBody>
      </p:sp>
      <p:sp>
        <p:nvSpPr>
          <p:cNvPr id="4" name="TextBox 3"/>
          <p:cNvSpPr txBox="1"/>
          <p:nvPr/>
        </p:nvSpPr>
        <p:spPr>
          <a:xfrm>
            <a:off x="658368" y="1389888"/>
            <a:ext cx="10874959" cy="411480"/>
          </a:xfrm>
          <a:prstGeom prst="rect">
            <a:avLst/>
          </a:prstGeom>
          <a:noFill/>
        </p:spPr>
        <p:txBody>
          <a:bodyPr wrap="square" lIns="0" rIns="0" tIns="0" bIns="0">
            <a:spAutoFit/>
          </a:bodyPr>
          <a:lstStyle/>
          <a:p>
            <a:pPr algn="l">
              <a:lnSpc>
                <a:spcPct val="125000"/>
              </a:lnSpc>
              <a:spcAft>
                <a:spcPts val="600"/>
              </a:spcAft>
            </a:pPr>
            <a:r>
              <a:rPr sz="1500" b="0">
                <a:solidFill>
                  <a:srgbClr val="5F6763"/>
                </a:solidFill>
                <a:latin typeface="Arial"/>
              </a:rPr>
              <a:t>FOD-A is not 9,623 independent images. It is about 38 scenes.</a:t>
            </a:r>
          </a:p>
        </p:txBody>
      </p:sp>
      <p:sp>
        <p:nvSpPr>
          <p:cNvPr id="5" name="Rectangle 4"/>
          <p:cNvSpPr/>
          <p:nvPr/>
        </p:nvSpPr>
        <p:spPr>
          <a:xfrm>
            <a:off x="658368" y="1847088"/>
            <a:ext cx="10874959" cy="15240"/>
          </a:xfrm>
          <a:prstGeom prst="rect">
            <a:avLst/>
          </a:prstGeom>
          <a:solidFill>
            <a:srgbClr val="D8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oda_sample.jpg"/>
          <p:cNvPicPr>
            <a:picLocks noChangeAspect="1"/>
          </p:cNvPicPr>
          <p:nvPr/>
        </p:nvPicPr>
        <p:blipFill>
          <a:blip r:embed="rId2"/>
          <a:stretch>
            <a:fillRect/>
          </a:stretch>
        </p:blipFill>
        <p:spPr>
          <a:xfrm>
            <a:off x="658368" y="2084832"/>
            <a:ext cx="2468880" cy="2468880"/>
          </a:xfrm>
          <a:prstGeom prst="rect">
            <a:avLst/>
          </a:prstGeom>
        </p:spPr>
      </p:pic>
      <p:sp>
        <p:nvSpPr>
          <p:cNvPr id="7" name="TextBox 6"/>
          <p:cNvSpPr txBox="1"/>
          <p:nvPr/>
        </p:nvSpPr>
        <p:spPr>
          <a:xfrm>
            <a:off x="658368" y="4645152"/>
            <a:ext cx="2468880" cy="731520"/>
          </a:xfrm>
          <a:prstGeom prst="rect">
            <a:avLst/>
          </a:prstGeom>
          <a:noFill/>
        </p:spPr>
        <p:txBody>
          <a:bodyPr wrap="square" lIns="0" rIns="0" tIns="0" bIns="0">
            <a:spAutoFit/>
          </a:bodyPr>
          <a:lstStyle/>
          <a:p>
            <a:pPr algn="l">
              <a:lnSpc>
                <a:spcPct val="125000"/>
              </a:lnSpc>
              <a:spcAft>
                <a:spcPts val="600"/>
              </a:spcAft>
            </a:pPr>
            <a:r>
              <a:rPr sz="1100" b="0">
                <a:solidFill>
                  <a:srgbClr val="5F6763"/>
                </a:solidFill>
                <a:latin typeface="Arial"/>
              </a:rPr>
              <a:t>A typical training image: one object, blank ground, no clutter, no second object.</a:t>
            </a:r>
          </a:p>
        </p:txBody>
      </p:sp>
      <p:graphicFrame>
        <p:nvGraphicFramePr>
          <p:cNvPr id="8" name="Table 7"/>
          <p:cNvGraphicFramePr>
            <a:graphicFrameLocks noGrp="1"/>
          </p:cNvGraphicFramePr>
          <p:nvPr/>
        </p:nvGraphicFramePr>
        <p:xfrm>
          <a:off x="3584448" y="2084832"/>
          <a:ext cx="3200400" cy="1161288"/>
        </p:xfrm>
        <a:graphic>
          <a:graphicData uri="http://schemas.openxmlformats.org/drawingml/2006/table">
            <a:tbl>
              <a:tblPr firstRow="1" bandRow="1">
                <a:tableStyleId>{5C22544A-7EE6-4342-B048-85BDC9FD1C3A}</a:tableStyleId>
              </a:tblPr>
              <a:tblGrid>
                <a:gridCol w="1920240"/>
                <a:gridCol w="1280160"/>
              </a:tblGrid>
              <a:tr h="310896">
                <a:tc>
                  <a:txBody>
                    <a:bodyPr/>
                    <a:lstStyle/>
                    <a:p>
                      <a:pPr algn="l"/>
                      <a:r>
                        <a:rPr sz="1100" b="1">
                          <a:solidFill>
                            <a:srgbClr val="FFFFFF"/>
                          </a:solidFill>
                          <a:latin typeface="Arial"/>
                        </a:rPr>
                        <a:t>Image pair</a:t>
                      </a:r>
                    </a:p>
                  </a:txBody>
                  <a:tcPr anchor="ctr" marL="73152" marR="73152" marT="0" marB="0">
                    <a:solidFill>
                      <a:srgbClr val="1A1D21"/>
                    </a:solidFill>
                  </a:tcPr>
                </a:tc>
                <a:tc>
                  <a:txBody>
                    <a:bodyPr/>
                    <a:lstStyle/>
                    <a:p>
                      <a:pPr algn="l"/>
                      <a:r>
                        <a:rPr sz="1100" b="1">
                          <a:solidFill>
                            <a:srgbClr val="FFFFFF"/>
                          </a:solidFill>
                          <a:latin typeface="Arial"/>
                        </a:rPr>
                        <a:t>Similarity</a:t>
                      </a:r>
                    </a:p>
                  </a:txBody>
                  <a:tcPr anchor="ctr" marL="73152" marR="73152" marT="0" marB="0">
                    <a:solidFill>
                      <a:srgbClr val="1A1D21"/>
                    </a:solidFill>
                  </a:tcPr>
                </a:tc>
              </a:tr>
              <a:tr h="283464">
                <a:tc>
                  <a:txBody>
                    <a:bodyPr/>
                    <a:lstStyle/>
                    <a:p>
                      <a:pPr algn="l"/>
                      <a:r>
                        <a:rPr sz="1200" b="0">
                          <a:solidFill>
                            <a:srgbClr val="1A1D21"/>
                          </a:solidFill>
                          <a:latin typeface="Arial"/>
                        </a:rPr>
                        <a:t>adjacent frames</a:t>
                      </a:r>
                    </a:p>
                  </a:txBody>
                  <a:tcPr anchor="ctr" marL="73152" marR="73152" marT="0" marB="0">
                    <a:solidFill>
                      <a:srgbClr val="FFFFFF"/>
                    </a:solidFill>
                  </a:tcPr>
                </a:tc>
                <a:tc>
                  <a:txBody>
                    <a:bodyPr/>
                    <a:lstStyle/>
                    <a:p>
                      <a:pPr algn="r"/>
                      <a:r>
                        <a:rPr sz="1200" b="0">
                          <a:solidFill>
                            <a:srgbClr val="1A1D21"/>
                          </a:solidFill>
                          <a:latin typeface="Consolas"/>
                        </a:rPr>
                        <a:t>0.975</a:t>
                      </a:r>
                    </a:p>
                  </a:txBody>
                  <a:tcPr anchor="ctr" marL="73152" marR="73152" marT="0" marB="0">
                    <a:solidFill>
                      <a:srgbClr val="FFFFFF"/>
                    </a:solidFill>
                  </a:tcPr>
                </a:tc>
              </a:tr>
              <a:tr h="283464">
                <a:tc>
                  <a:txBody>
                    <a:bodyPr/>
                    <a:lstStyle/>
                    <a:p>
                      <a:pPr algn="l"/>
                      <a:r>
                        <a:rPr sz="1200" b="0">
                          <a:solidFill>
                            <a:srgbClr val="1A1D21"/>
                          </a:solidFill>
                          <a:latin typeface="Arial"/>
                        </a:rPr>
                        <a:t>+10 frames</a:t>
                      </a:r>
                    </a:p>
                  </a:txBody>
                  <a:tcPr anchor="ctr" marL="73152" marR="73152" marT="0" marB="0">
                    <a:solidFill>
                      <a:srgbClr val="F2F3F1"/>
                    </a:solidFill>
                  </a:tcPr>
                </a:tc>
                <a:tc>
                  <a:txBody>
                    <a:bodyPr/>
                    <a:lstStyle/>
                    <a:p>
                      <a:pPr algn="r"/>
                      <a:r>
                        <a:rPr sz="1200" b="0">
                          <a:solidFill>
                            <a:srgbClr val="1A1D21"/>
                          </a:solidFill>
                          <a:latin typeface="Consolas"/>
                        </a:rPr>
                        <a:t>0.949</a:t>
                      </a:r>
                    </a:p>
                  </a:txBody>
                  <a:tcPr anchor="ctr" marL="73152" marR="73152" marT="0" marB="0">
                    <a:solidFill>
                      <a:srgbClr val="F2F3F1"/>
                    </a:solidFill>
                  </a:tcPr>
                </a:tc>
              </a:tr>
              <a:tr h="283464">
                <a:tc>
                  <a:txBody>
                    <a:bodyPr/>
                    <a:lstStyle/>
                    <a:p>
                      <a:pPr algn="l"/>
                      <a:r>
                        <a:rPr sz="1200" b="0">
                          <a:solidFill>
                            <a:srgbClr val="1A1D21"/>
                          </a:solidFill>
                          <a:latin typeface="Arial"/>
                        </a:rPr>
                        <a:t>unrelated pair</a:t>
                      </a:r>
                    </a:p>
                  </a:txBody>
                  <a:tcPr anchor="ctr" marL="73152" marR="73152" marT="0" marB="0">
                    <a:solidFill>
                      <a:srgbClr val="FFFFFF"/>
                    </a:solidFill>
                  </a:tcPr>
                </a:tc>
                <a:tc>
                  <a:txBody>
                    <a:bodyPr/>
                    <a:lstStyle/>
                    <a:p>
                      <a:pPr algn="r"/>
                      <a:r>
                        <a:rPr sz="1200" b="0">
                          <a:solidFill>
                            <a:srgbClr val="1A1D21"/>
                          </a:solidFill>
                          <a:latin typeface="Consolas"/>
                        </a:rPr>
                        <a:t>0.778</a:t>
                      </a:r>
                    </a:p>
                  </a:txBody>
                  <a:tcPr anchor="ctr" marL="73152" marR="73152" marT="0" marB="0">
                    <a:solidFill>
                      <a:srgbClr val="FFFFFF"/>
                    </a:solidFill>
                  </a:tcPr>
                </a:tc>
              </a:tr>
            </a:tbl>
          </a:graphicData>
        </a:graphic>
      </p:graphicFrame>
      <p:sp>
        <p:nvSpPr>
          <p:cNvPr id="9" name="TextBox 8"/>
          <p:cNvSpPr txBox="1"/>
          <p:nvPr/>
        </p:nvSpPr>
        <p:spPr>
          <a:xfrm>
            <a:off x="3584448" y="3593592"/>
            <a:ext cx="3200400" cy="1463040"/>
          </a:xfrm>
          <a:prstGeom prst="rect">
            <a:avLst/>
          </a:prstGeom>
          <a:noFill/>
        </p:spPr>
        <p:txBody>
          <a:bodyPr wrap="square" lIns="0" rIns="0" tIns="0" bIns="0">
            <a:spAutoFit/>
          </a:bodyPr>
          <a:lstStyle/>
          <a:p>
            <a:pPr algn="l">
              <a:lnSpc>
                <a:spcPct val="125000"/>
              </a:lnSpc>
              <a:spcAft>
                <a:spcPts val="600"/>
              </a:spcAft>
            </a:pPr>
            <a:r>
              <a:rPr sz="1300" b="0">
                <a:solidFill>
                  <a:srgbClr val="5F6763"/>
                </a:solidFill>
                <a:latin typeface="Arial"/>
              </a:rPr>
              <a:t>Video-derived and heavily redundant: 38 runs cover 96% of the images, and half of everything sits in the largest six.</a:t>
            </a:r>
          </a:p>
        </p:txBody>
      </p:sp>
      <p:sp>
        <p:nvSpPr>
          <p:cNvPr id="10" name="TextBox 9"/>
          <p:cNvSpPr txBox="1"/>
          <p:nvPr/>
        </p:nvSpPr>
        <p:spPr>
          <a:xfrm>
            <a:off x="7150608" y="2084832"/>
            <a:ext cx="4937760" cy="3840480"/>
          </a:xfrm>
          <a:prstGeom prst="rect">
            <a:avLst/>
          </a:prstGeom>
          <a:noFill/>
        </p:spPr>
        <p:txBody>
          <a:bodyPr wrap="square" lIns="0" rIns="0" tIns="0" bIns="0">
            <a:spAutoFit/>
          </a:bodyPr>
          <a:lstStyle/>
          <a:p>
            <a:pPr algn="l">
              <a:lnSpc>
                <a:spcPct val="125000"/>
              </a:lnSpc>
              <a:spcAft>
                <a:spcPts val="600"/>
              </a:spcAft>
            </a:pPr>
            <a:r>
              <a:rPr sz="1600" b="1">
                <a:solidFill>
                  <a:srgbClr val="1A1D21"/>
                </a:solidFill>
                <a:latin typeface="Arial"/>
              </a:rPr>
              <a:t>Which broke the split</a:t>
            </a:r>
          </a:p>
          <a:p>
            <a:pPr algn="l">
              <a:lnSpc>
                <a:spcPct val="125000"/>
              </a:lnSpc>
              <a:spcAft>
                <a:spcPts val="600"/>
              </a:spcAft>
            </a:pPr>
            <a:r>
              <a:rPr sz="1300" b="0">
                <a:solidFill>
                  <a:srgbClr val="5F6763"/>
                </a:solidFill>
                <a:latin typeface="Arial"/>
              </a:rPr>
              <a:t>74% of the validation frames used to train v2 had a near-duplicate in its own training set. That model scores 0.948 on it - recall of an almost identical frame, not generalisation. All scoring in this deck uses a scene-disjoint split instead.</a:t>
            </a:r>
          </a:p>
          <a:p>
            <a:pPr algn="l">
              <a:lnSpc>
                <a:spcPct val="125000"/>
              </a:lnSpc>
              <a:spcAft>
                <a:spcPts val="600"/>
              </a:spcAft>
              <a:defRPr sz="600" b="0">
                <a:solidFill>
                  <a:srgbClr val="1A1D21"/>
                </a:solidFill>
                <a:latin typeface="Arial"/>
              </a:defRPr>
            </a:pPr>
          </a:p>
          <a:p>
            <a:pPr algn="l">
              <a:lnSpc>
                <a:spcPct val="125000"/>
              </a:lnSpc>
              <a:spcAft>
                <a:spcPts val="600"/>
              </a:spcAft>
            </a:pPr>
            <a:r>
              <a:rPr sz="1600" b="1">
                <a:solidFill>
                  <a:srgbClr val="1A1D21"/>
                </a:solidFill>
                <a:latin typeface="Arial"/>
              </a:rPr>
              <a:t>And the images are the wrong kind</a:t>
            </a:r>
          </a:p>
          <a:p>
            <a:pPr algn="l">
              <a:lnSpc>
                <a:spcPct val="125000"/>
              </a:lnSpc>
              <a:spcAft>
                <a:spcPts val="600"/>
              </a:spcAft>
            </a:pPr>
            <a:r>
              <a:rPr sz="1300" b="0">
                <a:solidFill>
                  <a:srgbClr val="5F6763"/>
                </a:solidFill>
                <a:latin typeface="Arial"/>
              </a:rPr>
              <a:t>Every training image holds exactly one object on an empty plane. So a model trained on it cannot abstain - pointed at a desk it labels a mouse and a keyboard as debris. It has never been shown a scene.</a:t>
            </a:r>
          </a:p>
          <a:p>
            <a:pPr algn="l">
              <a:lnSpc>
                <a:spcPct val="125000"/>
              </a:lnSpc>
              <a:spcAft>
                <a:spcPts val="600"/>
              </a:spcAft>
              <a:defRPr sz="600" b="0">
                <a:solidFill>
                  <a:srgbClr val="1A1D21"/>
                </a:solidFill>
                <a:latin typeface="Arial"/>
              </a:defRPr>
            </a:pPr>
          </a:p>
          <a:p>
            <a:pPr algn="l">
              <a:lnSpc>
                <a:spcPct val="125000"/>
              </a:lnSpc>
              <a:spcAft>
                <a:spcPts val="600"/>
              </a:spcAft>
            </a:pPr>
            <a:r>
              <a:rPr sz="1400" b="1">
                <a:solidFill>
                  <a:srgbClr val="C2701C"/>
                </a:solidFill>
                <a:latin typeface="Arial"/>
              </a:rPr>
              <a:t>More of this data cannot fix false positives on furniture, because it contains no furniture.</a:t>
            </a:r>
          </a:p>
        </p:txBody>
      </p:sp>
      <p:sp>
        <p:nvSpPr>
          <p:cNvPr id="11" name="TextBox 10"/>
          <p:cNvSpPr txBox="1"/>
          <p:nvPr/>
        </p:nvSpPr>
        <p:spPr>
          <a:xfrm>
            <a:off x="11002975" y="6382512"/>
            <a:ext cx="548640" cy="274320"/>
          </a:xfrm>
          <a:prstGeom prst="rect">
            <a:avLst/>
          </a:prstGeom>
          <a:noFill/>
        </p:spPr>
        <p:txBody>
          <a:bodyPr wrap="square" lIns="0" rIns="0" tIns="0" bIns="0">
            <a:spAutoFit/>
          </a:bodyPr>
          <a:lstStyle/>
          <a:p>
            <a:pPr algn="r">
              <a:lnSpc>
                <a:spcPct val="125000"/>
              </a:lnSpc>
              <a:spcAft>
                <a:spcPts val="600"/>
              </a:spcAft>
            </a:pPr>
            <a:r>
              <a:rPr sz="1100" b="0">
                <a:solidFill>
                  <a:srgbClr val="5F6763"/>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spAutoFit/>
          </a:bodyPr>
          <a:lstStyle/>
          <a:p>
            <a:pPr algn="l">
              <a:lnSpc>
                <a:spcPct val="125000"/>
              </a:lnSpc>
              <a:spcAft>
                <a:spcPts val="600"/>
              </a:spcAft>
            </a:pPr>
            <a:r>
              <a:rPr sz="1100" b="1">
                <a:solidFill>
                  <a:srgbClr val="C2701C"/>
                </a:solidFill>
                <a:latin typeface="Arial"/>
              </a:rPr>
              <a:t>9 · DECISIONS</a:t>
            </a:r>
          </a:p>
        </p:txBody>
      </p:sp>
      <p:sp>
        <p:nvSpPr>
          <p:cNvPr id="3" name="TextBox 2"/>
          <p:cNvSpPr txBox="1"/>
          <p:nvPr/>
        </p:nvSpPr>
        <p:spPr>
          <a:xfrm>
            <a:off x="658368" y="713232"/>
            <a:ext cx="10874959" cy="640080"/>
          </a:xfrm>
          <a:prstGeom prst="rect">
            <a:avLst/>
          </a:prstGeom>
          <a:noFill/>
        </p:spPr>
        <p:txBody>
          <a:bodyPr wrap="square" lIns="0" rIns="0" tIns="0" bIns="0">
            <a:spAutoFit/>
          </a:bodyPr>
          <a:lstStyle/>
          <a:p>
            <a:pPr algn="l">
              <a:lnSpc>
                <a:spcPct val="125000"/>
              </a:lnSpc>
              <a:spcAft>
                <a:spcPts val="600"/>
              </a:spcAft>
            </a:pPr>
            <a:r>
              <a:rPr sz="3000" b="1">
                <a:solidFill>
                  <a:srgbClr val="1A1D21"/>
                </a:solidFill>
                <a:latin typeface="Arial"/>
              </a:rPr>
              <a:t>What this settles</a:t>
            </a:r>
          </a:p>
        </p:txBody>
      </p:sp>
      <p:sp>
        <p:nvSpPr>
          <p:cNvPr id="4" name="TextBox 3"/>
          <p:cNvSpPr txBox="1"/>
          <p:nvPr/>
        </p:nvSpPr>
        <p:spPr>
          <a:xfrm>
            <a:off x="658368" y="1389888"/>
            <a:ext cx="10874959" cy="411480"/>
          </a:xfrm>
          <a:prstGeom prst="rect">
            <a:avLst/>
          </a:prstGeom>
          <a:noFill/>
        </p:spPr>
        <p:txBody>
          <a:bodyPr wrap="square" lIns="0" rIns="0" tIns="0" bIns="0">
            <a:spAutoFit/>
          </a:bodyPr>
          <a:lstStyle/>
          <a:p>
            <a:pPr algn="l">
              <a:lnSpc>
                <a:spcPct val="125000"/>
              </a:lnSpc>
              <a:spcAft>
                <a:spcPts val="600"/>
              </a:spcAft>
            </a:pPr>
            <a:r>
              <a:rPr sz="1500" b="0">
                <a:solidFill>
                  <a:srgbClr val="5F6763"/>
                </a:solidFill>
                <a:latin typeface="Arial"/>
              </a:rPr>
              <a:t>Each decision with the measurement behind it.</a:t>
            </a:r>
          </a:p>
        </p:txBody>
      </p:sp>
      <p:sp>
        <p:nvSpPr>
          <p:cNvPr id="5" name="Rectangle 4"/>
          <p:cNvSpPr/>
          <p:nvPr/>
        </p:nvSpPr>
        <p:spPr>
          <a:xfrm>
            <a:off x="658368" y="1847088"/>
            <a:ext cx="10874959" cy="15240"/>
          </a:xfrm>
          <a:prstGeom prst="rect">
            <a:avLst/>
          </a:prstGeom>
          <a:solidFill>
            <a:srgbClr val="D8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2084832"/>
          <a:ext cx="10881360" cy="2578608"/>
        </p:xfrm>
        <a:graphic>
          <a:graphicData uri="http://schemas.openxmlformats.org/drawingml/2006/table">
            <a:tbl>
              <a:tblPr firstRow="1" bandRow="1">
                <a:tableStyleId>{5C22544A-7EE6-4342-B048-85BDC9FD1C3A}</a:tableStyleId>
              </a:tblPr>
              <a:tblGrid>
                <a:gridCol w="4114800"/>
                <a:gridCol w="6766560"/>
              </a:tblGrid>
              <a:tr h="310896">
                <a:tc>
                  <a:txBody>
                    <a:bodyPr/>
                    <a:lstStyle/>
                    <a:p>
                      <a:pPr algn="l"/>
                      <a:r>
                        <a:rPr sz="1200" b="1">
                          <a:solidFill>
                            <a:srgbClr val="FFFFFF"/>
                          </a:solidFill>
                          <a:latin typeface="Arial"/>
                        </a:rPr>
                        <a:t>Decision</a:t>
                      </a:r>
                    </a:p>
                  </a:txBody>
                  <a:tcPr anchor="ctr" marL="73152" marR="73152" marT="0" marB="0">
                    <a:solidFill>
                      <a:srgbClr val="1A1D21"/>
                    </a:solidFill>
                  </a:tcPr>
                </a:tc>
                <a:tc>
                  <a:txBody>
                    <a:bodyPr/>
                    <a:lstStyle/>
                    <a:p>
                      <a:pPr algn="l"/>
                      <a:r>
                        <a:rPr sz="1200" b="1">
                          <a:solidFill>
                            <a:srgbClr val="FFFFFF"/>
                          </a:solidFill>
                          <a:latin typeface="Arial"/>
                        </a:rPr>
                        <a:t>Because</a:t>
                      </a:r>
                    </a:p>
                  </a:txBody>
                  <a:tcPr anchor="ctr" marL="73152" marR="73152" marT="0" marB="0">
                    <a:solidFill>
                      <a:srgbClr val="1A1D21"/>
                    </a:solidFill>
                  </a:tcPr>
                </a:tc>
              </a:tr>
              <a:tr h="283464">
                <a:tc>
                  <a:txBody>
                    <a:bodyPr/>
                    <a:lstStyle/>
                    <a:p>
                      <a:pPr algn="l"/>
                      <a:r>
                        <a:rPr sz="1300" b="0">
                          <a:solidFill>
                            <a:srgbClr val="1A1D21"/>
                          </a:solidFill>
                          <a:latin typeface="Arial"/>
                        </a:rPr>
                        <a:t>Deploy at 480x480, not 640</a:t>
                      </a:r>
                    </a:p>
                  </a:txBody>
                  <a:tcPr anchor="ctr" marL="73152" marR="73152" marT="0" marB="0">
                    <a:solidFill>
                      <a:srgbClr val="FFFFFF"/>
                    </a:solidFill>
                  </a:tcPr>
                </a:tc>
                <a:tc>
                  <a:txBody>
                    <a:bodyPr/>
                    <a:lstStyle/>
                    <a:p>
                      <a:pPr algn="l"/>
                      <a:r>
                        <a:rPr sz="1300" b="0">
                          <a:solidFill>
                            <a:srgbClr val="1A1D21"/>
                          </a:solidFill>
                          <a:latin typeface="Consolas"/>
                        </a:rPr>
                        <a:t>same accuracy, 1.87x faster. 320 loses 37%</a:t>
                      </a:r>
                    </a:p>
                  </a:txBody>
                  <a:tcPr anchor="ctr" marL="73152" marR="73152" marT="0" marB="0">
                    <a:solidFill>
                      <a:srgbClr val="FFFFFF"/>
                    </a:solidFill>
                  </a:tcPr>
                </a:tc>
              </a:tr>
              <a:tr h="283464">
                <a:tc>
                  <a:txBody>
                    <a:bodyPr/>
                    <a:lstStyle/>
                    <a:p>
                      <a:pPr algn="l"/>
                      <a:r>
                        <a:rPr sz="1300" b="0">
                          <a:solidFill>
                            <a:srgbClr val="1A1D21"/>
                          </a:solidFill>
                          <a:latin typeface="Arial"/>
                        </a:rPr>
                        <a:t>Hailo-8 is the only real INT8 path</a:t>
                      </a:r>
                    </a:p>
                  </a:txBody>
                  <a:tcPr anchor="ctr" marL="73152" marR="73152" marT="0" marB="0">
                    <a:solidFill>
                      <a:srgbClr val="F2F3F1"/>
                    </a:solidFill>
                  </a:tcPr>
                </a:tc>
                <a:tc>
                  <a:txBody>
                    <a:bodyPr/>
                    <a:lstStyle/>
                    <a:p>
                      <a:pPr algn="l"/>
                      <a:r>
                        <a:rPr sz="1300" b="0">
                          <a:solidFill>
                            <a:srgbClr val="1A1D21"/>
                          </a:solidFill>
                          <a:latin typeface="Consolas"/>
                        </a:rPr>
                        <a:t>-0.6% accuracy, 2.4x fastest CPU, 3.2x at two cores</a:t>
                      </a:r>
                    </a:p>
                  </a:txBody>
                  <a:tcPr anchor="ctr" marL="73152" marR="73152" marT="0" marB="0">
                    <a:solidFill>
                      <a:srgbClr val="F2F3F1"/>
                    </a:solidFill>
                  </a:tcPr>
                </a:tc>
              </a:tr>
              <a:tr h="283464">
                <a:tc>
                  <a:txBody>
                    <a:bodyPr/>
                    <a:lstStyle/>
                    <a:p>
                      <a:pPr algn="l"/>
                      <a:r>
                        <a:rPr sz="1300" b="0">
                          <a:solidFill>
                            <a:srgbClr val="1A1D21"/>
                          </a:solidFill>
                          <a:latin typeface="Arial"/>
                        </a:rPr>
                        <a:t>Drop "NCNN INT8" from the spec</a:t>
                      </a:r>
                    </a:p>
                  </a:txBody>
                  <a:tcPr anchor="ctr" marL="73152" marR="73152" marT="0" marB="0">
                    <a:solidFill>
                      <a:srgbClr val="FFFFFF"/>
                    </a:solidFill>
                  </a:tcPr>
                </a:tc>
                <a:tc>
                  <a:txBody>
                    <a:bodyPr/>
                    <a:lstStyle/>
                    <a:p>
                      <a:pPr algn="l"/>
                      <a:r>
                        <a:rPr sz="1300" b="0">
                          <a:solidFill>
                            <a:srgbClr val="1A1D21"/>
                          </a:solidFill>
                          <a:latin typeface="Consolas"/>
                        </a:rPr>
                        <a:t>no export path exists in this toolchain</a:t>
                      </a:r>
                    </a:p>
                  </a:txBody>
                  <a:tcPr anchor="ctr" marL="73152" marR="73152" marT="0" marB="0">
                    <a:solidFill>
                      <a:srgbClr val="FFFFFF"/>
                    </a:solidFill>
                  </a:tcPr>
                </a:tc>
              </a:tr>
              <a:tr h="283464">
                <a:tc>
                  <a:txBody>
                    <a:bodyPr/>
                    <a:lstStyle/>
                    <a:p>
                      <a:pPr algn="l"/>
                      <a:r>
                        <a:rPr sz="1300" b="0">
                          <a:solidFill>
                            <a:srgbClr val="1A1D21"/>
                          </a:solidFill>
                          <a:latin typeface="Arial"/>
                        </a:rPr>
                        <a:t>Drop OpenVINO INT8</a:t>
                      </a:r>
                    </a:p>
                  </a:txBody>
                  <a:tcPr anchor="ctr" marL="73152" marR="73152" marT="0" marB="0">
                    <a:solidFill>
                      <a:srgbClr val="F2F3F1"/>
                    </a:solidFill>
                  </a:tcPr>
                </a:tc>
                <a:tc>
                  <a:txBody>
                    <a:bodyPr/>
                    <a:lstStyle/>
                    <a:p>
                      <a:pPr algn="l"/>
                      <a:r>
                        <a:rPr sz="1300" b="0">
                          <a:solidFill>
                            <a:srgbClr val="1A1D21"/>
                          </a:solidFill>
                          <a:latin typeface="Consolas"/>
                        </a:rPr>
                        <a:t>2.6x slower than its own FP32, replicated twice</a:t>
                      </a:r>
                    </a:p>
                  </a:txBody>
                  <a:tcPr anchor="ctr" marL="73152" marR="73152" marT="0" marB="0">
                    <a:solidFill>
                      <a:srgbClr val="F2F3F1"/>
                    </a:solidFill>
                  </a:tcPr>
                </a:tc>
              </a:tr>
              <a:tr h="283464">
                <a:tc>
                  <a:txBody>
                    <a:bodyPr/>
                    <a:lstStyle/>
                    <a:p>
                      <a:pPr algn="l"/>
                      <a:r>
                        <a:rPr sz="1300" b="0">
                          <a:solidFill>
                            <a:srgbClr val="1A1D21"/>
                          </a:solidFill>
                          <a:latin typeface="Arial"/>
                        </a:rPr>
                        <a:t>LiteRT INT8 usable but lossy</a:t>
                      </a:r>
                    </a:p>
                  </a:txBody>
                  <a:tcPr anchor="ctr" marL="73152" marR="73152" marT="0" marB="0">
                    <a:solidFill>
                      <a:srgbClr val="FFFFFF"/>
                    </a:solidFill>
                  </a:tcPr>
                </a:tc>
                <a:tc>
                  <a:txBody>
                    <a:bodyPr/>
                    <a:lstStyle/>
                    <a:p>
                      <a:pPr algn="l"/>
                      <a:r>
                        <a:rPr sz="1300" b="0">
                          <a:solidFill>
                            <a:srgbClr val="1A1D21"/>
                          </a:solidFill>
                          <a:latin typeface="Consolas"/>
                        </a:rPr>
                        <a:t>fastest CPU INT8, but -14.5% accuracy</a:t>
                      </a:r>
                    </a:p>
                  </a:txBody>
                  <a:tcPr anchor="ctr" marL="73152" marR="73152" marT="0" marB="0">
                    <a:solidFill>
                      <a:srgbClr val="FFFFFF"/>
                    </a:solidFill>
                  </a:tcPr>
                </a:tc>
              </a:tr>
              <a:tr h="283464">
                <a:tc>
                  <a:txBody>
                    <a:bodyPr/>
                    <a:lstStyle/>
                    <a:p>
                      <a:pPr algn="l"/>
                      <a:r>
                        <a:rPr sz="1300" b="0">
                          <a:solidFill>
                            <a:srgbClr val="1A1D21"/>
                          </a:solidFill>
                          <a:latin typeface="Arial"/>
                        </a:rPr>
                        <a:t>YOLO26n rejected</a:t>
                      </a:r>
                    </a:p>
                  </a:txBody>
                  <a:tcPr anchor="ctr" marL="73152" marR="73152" marT="0" marB="0">
                    <a:solidFill>
                      <a:srgbClr val="F2F3F1"/>
                    </a:solidFill>
                  </a:tcPr>
                </a:tc>
                <a:tc>
                  <a:txBody>
                    <a:bodyPr/>
                    <a:lstStyle/>
                    <a:p>
                      <a:pPr algn="l"/>
                      <a:r>
                        <a:rPr sz="1300" b="0">
                          <a:solidFill>
                            <a:srgbClr val="1A1D21"/>
                          </a:solidFill>
                          <a:latin typeface="Consolas"/>
                        </a:rPr>
                        <a:t>45.5 ms vs YOLO11n's 44.8 - no gain</a:t>
                      </a:r>
                    </a:p>
                  </a:txBody>
                  <a:tcPr anchor="ctr" marL="73152" marR="73152" marT="0" marB="0">
                    <a:solidFill>
                      <a:srgbClr val="F2F3F1"/>
                    </a:solidFill>
                  </a:tcPr>
                </a:tc>
              </a:tr>
              <a:tr h="283464">
                <a:tc>
                  <a:txBody>
                    <a:bodyPr/>
                    <a:lstStyle/>
                    <a:p>
                      <a:pPr algn="l"/>
                      <a:r>
                        <a:rPr sz="1300" b="0">
                          <a:solidFill>
                            <a:srgbClr val="1A1D21"/>
                          </a:solidFill>
                          <a:latin typeface="Arial"/>
                        </a:rPr>
                        <a:t>Enable autofocus, always</a:t>
                      </a:r>
                    </a:p>
                  </a:txBody>
                  <a:tcPr anchor="ctr" marL="73152" marR="73152" marT="0" marB="0">
                    <a:solidFill>
                      <a:srgbClr val="FFFFFF"/>
                    </a:solidFill>
                  </a:tcPr>
                </a:tc>
                <a:tc>
                  <a:txBody>
                    <a:bodyPr/>
                    <a:lstStyle/>
                    <a:p>
                      <a:pPr algn="l"/>
                      <a:r>
                        <a:rPr sz="1300" b="0">
                          <a:solidFill>
                            <a:srgbClr val="1A1D21"/>
                          </a:solidFill>
                          <a:latin typeface="Consolas"/>
                        </a:rPr>
                        <a:t>it was never set; focus score 180 -&gt; 757</a:t>
                      </a:r>
                    </a:p>
                  </a:txBody>
                  <a:tcPr anchor="ctr" marL="73152" marR="73152" marT="0" marB="0">
                    <a:solidFill>
                      <a:srgbClr val="FFFFFF"/>
                    </a:solidFill>
                  </a:tcPr>
                </a:tc>
              </a:tr>
              <a:tr h="283464">
                <a:tc>
                  <a:txBody>
                    <a:bodyPr/>
                    <a:lstStyle/>
                    <a:p>
                      <a:pPr algn="l"/>
                      <a:r>
                        <a:rPr sz="1300" b="0">
                          <a:solidFill>
                            <a:srgbClr val="1A1D21"/>
                          </a:solidFill>
                          <a:latin typeface="Arial"/>
                        </a:rPr>
                        <a:t>Score on a scene-disjoint split</a:t>
                      </a:r>
                    </a:p>
                  </a:txBody>
                  <a:tcPr anchor="ctr" marL="73152" marR="73152" marT="0" marB="0">
                    <a:solidFill>
                      <a:srgbClr val="F2F3F1"/>
                    </a:solidFill>
                  </a:tcPr>
                </a:tc>
                <a:tc>
                  <a:txBody>
                    <a:bodyPr/>
                    <a:lstStyle/>
                    <a:p>
                      <a:pPr algn="l"/>
                      <a:r>
                        <a:rPr sz="1300" b="0">
                          <a:solidFill>
                            <a:srgbClr val="1A1D21"/>
                          </a:solidFill>
                          <a:latin typeface="Consolas"/>
                        </a:rPr>
                        <a:t>the per-image shuffle leaked 74%</a:t>
                      </a:r>
                    </a:p>
                  </a:txBody>
                  <a:tcPr anchor="ctr" marL="73152" marR="73152" marT="0" marB="0">
                    <a:solidFill>
                      <a:srgbClr val="F2F3F1"/>
                    </a:solidFill>
                  </a:tcPr>
                </a:tc>
              </a:tr>
            </a:tbl>
          </a:graphicData>
        </a:graphic>
      </p:graphicFrame>
      <p:sp>
        <p:nvSpPr>
          <p:cNvPr id="7" name="TextBox 6"/>
          <p:cNvSpPr txBox="1"/>
          <p:nvPr/>
        </p:nvSpPr>
        <p:spPr>
          <a:xfrm>
            <a:off x="11002975" y="6382512"/>
            <a:ext cx="548640" cy="274320"/>
          </a:xfrm>
          <a:prstGeom prst="rect">
            <a:avLst/>
          </a:prstGeom>
          <a:noFill/>
        </p:spPr>
        <p:txBody>
          <a:bodyPr wrap="square" lIns="0" rIns="0" tIns="0" bIns="0">
            <a:spAutoFit/>
          </a:bodyPr>
          <a:lstStyle/>
          <a:p>
            <a:pPr algn="r">
              <a:lnSpc>
                <a:spcPct val="125000"/>
              </a:lnSpc>
              <a:spcAft>
                <a:spcPts val="600"/>
              </a:spcAft>
            </a:pPr>
            <a:r>
              <a:rPr sz="1100" b="0">
                <a:solidFill>
                  <a:srgbClr val="5F6763"/>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4959" cy="274320"/>
          </a:xfrm>
          <a:prstGeom prst="rect">
            <a:avLst/>
          </a:prstGeom>
          <a:noFill/>
        </p:spPr>
        <p:txBody>
          <a:bodyPr wrap="square" lIns="0" rIns="0" tIns="0" bIns="0">
            <a:spAutoFit/>
          </a:bodyPr>
          <a:lstStyle/>
          <a:p>
            <a:pPr algn="l">
              <a:lnSpc>
                <a:spcPct val="125000"/>
              </a:lnSpc>
              <a:spcAft>
                <a:spcPts val="600"/>
              </a:spcAft>
            </a:pPr>
            <a:r>
              <a:rPr sz="1100" b="1">
                <a:solidFill>
                  <a:srgbClr val="C2701C"/>
                </a:solidFill>
                <a:latin typeface="Arial"/>
              </a:rPr>
              <a:t>10 · NEXT</a:t>
            </a:r>
          </a:p>
        </p:txBody>
      </p:sp>
      <p:sp>
        <p:nvSpPr>
          <p:cNvPr id="3" name="TextBox 2"/>
          <p:cNvSpPr txBox="1"/>
          <p:nvPr/>
        </p:nvSpPr>
        <p:spPr>
          <a:xfrm>
            <a:off x="658368" y="713232"/>
            <a:ext cx="10874959" cy="640080"/>
          </a:xfrm>
          <a:prstGeom prst="rect">
            <a:avLst/>
          </a:prstGeom>
          <a:noFill/>
        </p:spPr>
        <p:txBody>
          <a:bodyPr wrap="square" lIns="0" rIns="0" tIns="0" bIns="0">
            <a:spAutoFit/>
          </a:bodyPr>
          <a:lstStyle/>
          <a:p>
            <a:pPr algn="l">
              <a:lnSpc>
                <a:spcPct val="125000"/>
              </a:lnSpc>
              <a:spcAft>
                <a:spcPts val="600"/>
              </a:spcAft>
            </a:pPr>
            <a:r>
              <a:rPr sz="3000" b="1">
                <a:solidFill>
                  <a:srgbClr val="1A1D21"/>
                </a:solidFill>
                <a:latin typeface="Arial"/>
              </a:rPr>
              <a:t>What happens next</a:t>
            </a:r>
          </a:p>
        </p:txBody>
      </p:sp>
      <p:sp>
        <p:nvSpPr>
          <p:cNvPr id="4" name="TextBox 3"/>
          <p:cNvSpPr txBox="1"/>
          <p:nvPr/>
        </p:nvSpPr>
        <p:spPr>
          <a:xfrm>
            <a:off x="658368" y="1389888"/>
            <a:ext cx="10874959" cy="411480"/>
          </a:xfrm>
          <a:prstGeom prst="rect">
            <a:avLst/>
          </a:prstGeom>
          <a:noFill/>
        </p:spPr>
        <p:txBody>
          <a:bodyPr wrap="square" lIns="0" rIns="0" tIns="0" bIns="0">
            <a:spAutoFit/>
          </a:bodyPr>
          <a:lstStyle/>
          <a:p>
            <a:pPr algn="l">
              <a:lnSpc>
                <a:spcPct val="125000"/>
              </a:lnSpc>
              <a:spcAft>
                <a:spcPts val="600"/>
              </a:spcAft>
            </a:pPr>
            <a:r>
              <a:rPr sz="1500" b="0">
                <a:solidFill>
                  <a:srgbClr val="5F6763"/>
                </a:solidFill>
                <a:latin typeface="Arial"/>
              </a:rPr>
              <a:t>Toolchain answered, detection working on hardware. The data question is not.</a:t>
            </a:r>
          </a:p>
        </p:txBody>
      </p:sp>
      <p:sp>
        <p:nvSpPr>
          <p:cNvPr id="5" name="Rectangle 4"/>
          <p:cNvSpPr/>
          <p:nvPr/>
        </p:nvSpPr>
        <p:spPr>
          <a:xfrm>
            <a:off x="658368" y="1847088"/>
            <a:ext cx="10874959" cy="15240"/>
          </a:xfrm>
          <a:prstGeom prst="rect">
            <a:avLst/>
          </a:prstGeom>
          <a:solidFill>
            <a:srgbClr val="D8D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084832"/>
            <a:ext cx="6949440" cy="3291840"/>
          </a:xfrm>
          <a:prstGeom prst="rect">
            <a:avLst/>
          </a:prstGeom>
          <a:noFill/>
        </p:spPr>
        <p:txBody>
          <a:bodyPr wrap="square" lIns="0" rIns="0" tIns="0" bIns="0">
            <a:spAutoFit/>
          </a:bodyPr>
          <a:lstStyle/>
          <a:p>
            <a:pPr algn="l">
              <a:lnSpc>
                <a:spcPct val="125000"/>
              </a:lnSpc>
              <a:spcAft>
                <a:spcPts val="1100"/>
              </a:spcAft>
            </a:pPr>
            <a:r>
              <a:rPr sz="1800" b="1">
                <a:solidFill>
                  <a:srgbClr val="C2701C"/>
                </a:solidFill>
                <a:latin typeface="Arial"/>
              </a:rPr>
              <a:t>1.  Collect the arena dataset  (PRD section 10)</a:t>
            </a:r>
          </a:p>
          <a:p>
            <a:pPr algn="l">
              <a:lnSpc>
                <a:spcPct val="125000"/>
              </a:lnSpc>
              <a:spcAft>
                <a:spcPts val="1100"/>
              </a:spcAft>
            </a:pPr>
            <a:r>
              <a:rPr sz="1400" b="0">
                <a:solidFill>
                  <a:srgbClr val="5F6763"/>
                </a:solidFill>
                <a:latin typeface="Arial"/>
              </a:rPr>
              <a:t>Now the critical path, not an eventual refinement. The public dataset cannot supply a single cluttered negative, and clutter is what produces the false positives.</a:t>
            </a:r>
          </a:p>
          <a:p>
            <a:pPr algn="l">
              <a:lnSpc>
                <a:spcPct val="125000"/>
              </a:lnSpc>
              <a:spcAft>
                <a:spcPts val="1100"/>
              </a:spcAft>
            </a:pPr>
            <a:r>
              <a:rPr sz="1800" b="1">
                <a:solidFill>
                  <a:srgbClr val="1A1D21"/>
                </a:solidFill>
                <a:latin typeface="Arial"/>
              </a:rPr>
              <a:t>2.  Group the split by scene before training on it</a:t>
            </a:r>
          </a:p>
          <a:p>
            <a:pPr algn="l">
              <a:lnSpc>
                <a:spcPct val="125000"/>
              </a:lnSpc>
              <a:spcAft>
                <a:spcPts val="1100"/>
              </a:spcAft>
            </a:pPr>
            <a:r>
              <a:rPr sz="1400" b="0">
                <a:solidFill>
                  <a:srgbClr val="5F6763"/>
                </a:solidFill>
                <a:latin typeface="Arial"/>
              </a:rPr>
              <a:t>A per-image shuffle cannot give a trustworthy score on video-derived data - arena footage will be video too.</a:t>
            </a:r>
          </a:p>
          <a:p>
            <a:pPr algn="l">
              <a:lnSpc>
                <a:spcPct val="125000"/>
              </a:lnSpc>
              <a:spcAft>
                <a:spcPts val="1100"/>
              </a:spcAft>
            </a:pPr>
            <a:r>
              <a:rPr sz="1800" b="1">
                <a:solidFill>
                  <a:srgbClr val="1A1D21"/>
                </a:solidFill>
                <a:latin typeface="Arial"/>
              </a:rPr>
              <a:t>3.  Fix the class confusion, or drop to one class</a:t>
            </a:r>
          </a:p>
          <a:p>
            <a:pPr algn="l">
              <a:lnSpc>
                <a:spcPct val="125000"/>
              </a:lnSpc>
              <a:spcAft>
                <a:spcPts val="1100"/>
              </a:spcAft>
            </a:pPr>
            <a:r>
              <a:rPr sz="1400" b="0">
                <a:solidFill>
                  <a:srgbClr val="5F6763"/>
                </a:solidFill>
                <a:latin typeface="Arial"/>
              </a:rPr>
              <a:t>Screws are detected reliably and named wrong. The specification asks for a single metal_fastener class anyway, with per-class recall recovered from the seeding log.</a:t>
            </a:r>
          </a:p>
        </p:txBody>
      </p:sp>
      <p:sp>
        <p:nvSpPr>
          <p:cNvPr id="7" name="TextBox 6"/>
          <p:cNvSpPr txBox="1"/>
          <p:nvPr/>
        </p:nvSpPr>
        <p:spPr>
          <a:xfrm>
            <a:off x="8065008" y="2084832"/>
            <a:ext cx="4023360" cy="2926080"/>
          </a:xfrm>
          <a:prstGeom prst="rect">
            <a:avLst/>
          </a:prstGeom>
          <a:noFill/>
        </p:spPr>
        <p:txBody>
          <a:bodyPr wrap="square" lIns="0" rIns="0" tIns="0" bIns="0">
            <a:spAutoFit/>
          </a:bodyPr>
          <a:lstStyle/>
          <a:p>
            <a:pPr algn="l">
              <a:lnSpc>
                <a:spcPct val="125000"/>
              </a:lnSpc>
              <a:spcAft>
                <a:spcPts val="900"/>
              </a:spcAft>
            </a:pPr>
            <a:r>
              <a:rPr sz="1500" b="1">
                <a:solidFill>
                  <a:srgbClr val="1A1D21"/>
                </a:solidFill>
                <a:latin typeface="Arial"/>
              </a:rPr>
              <a:t>Smaller, still open</a:t>
            </a:r>
          </a:p>
          <a:p>
            <a:pPr algn="l">
              <a:lnSpc>
                <a:spcPct val="125000"/>
              </a:lnSpc>
              <a:spcAft>
                <a:spcPts val="900"/>
              </a:spcAft>
            </a:pPr>
            <a:r>
              <a:rPr sz="1300" b="0">
                <a:solidFill>
                  <a:srgbClr val="5F6763"/>
                </a:solidFill>
                <a:latin typeface="Arial"/>
              </a:rPr>
              <a:t>Viewpoint augmentation written for this camera geometry, never run</a:t>
            </a:r>
          </a:p>
          <a:p>
            <a:pPr algn="l">
              <a:lnSpc>
                <a:spcPct val="125000"/>
              </a:lnSpc>
              <a:spcAft>
                <a:spcPts val="900"/>
              </a:spcAft>
            </a:pPr>
            <a:r>
              <a:rPr sz="1300" b="0">
                <a:solidFill>
                  <a:srgbClr val="5F6763"/>
                </a:solidFill>
                <a:latin typeface="Arial"/>
              </a:rPr>
              <a:t>USB power meter to replace the PMIC estimate</a:t>
            </a:r>
          </a:p>
          <a:p>
            <a:pPr algn="l">
              <a:lnSpc>
                <a:spcPct val="125000"/>
              </a:lnSpc>
              <a:spcAft>
                <a:spcPts val="900"/>
              </a:spcAft>
            </a:pPr>
            <a:r>
              <a:rPr sz="1300" b="0">
                <a:solidFill>
                  <a:srgbClr val="5F6763"/>
                </a:solidFill>
                <a:latin typeface="Arial"/>
              </a:rPr>
              <a:t>Calibrate INT8 on arena images, not FOD-A</a:t>
            </a:r>
          </a:p>
          <a:p>
            <a:pPr algn="l">
              <a:lnSpc>
                <a:spcPct val="125000"/>
              </a:lnSpc>
              <a:spcAft>
                <a:spcPts val="900"/>
              </a:spcAft>
              <a:defRPr sz="800" b="0">
                <a:solidFill>
                  <a:srgbClr val="1A1D21"/>
                </a:solidFill>
                <a:latin typeface="Arial"/>
              </a:defRPr>
            </a:pPr>
          </a:p>
          <a:p>
            <a:pPr algn="l">
              <a:lnSpc>
                <a:spcPct val="125000"/>
              </a:lnSpc>
              <a:spcAft>
                <a:spcPts val="900"/>
              </a:spcAft>
            </a:pPr>
            <a:r>
              <a:rPr sz="1300" b="1">
                <a:solidFill>
                  <a:srgbClr val="1A1D21"/>
                </a:solidFill>
                <a:latin typeface="Arial"/>
              </a:rPr>
              <a:t>Accelerator adoption is a BOM change and stays gated on sign-off.</a:t>
            </a:r>
          </a:p>
        </p:txBody>
      </p:sp>
      <p:sp>
        <p:nvSpPr>
          <p:cNvPr id="8" name="TextBox 7"/>
          <p:cNvSpPr txBox="1"/>
          <p:nvPr/>
        </p:nvSpPr>
        <p:spPr>
          <a:xfrm>
            <a:off x="11002975" y="6382512"/>
            <a:ext cx="548640" cy="274320"/>
          </a:xfrm>
          <a:prstGeom prst="rect">
            <a:avLst/>
          </a:prstGeom>
          <a:noFill/>
        </p:spPr>
        <p:txBody>
          <a:bodyPr wrap="square" lIns="0" rIns="0" tIns="0" bIns="0">
            <a:spAutoFit/>
          </a:bodyPr>
          <a:lstStyle/>
          <a:p>
            <a:pPr algn="r">
              <a:lnSpc>
                <a:spcPct val="125000"/>
              </a:lnSpc>
              <a:spcAft>
                <a:spcPts val="600"/>
              </a:spcAft>
            </a:pPr>
            <a:r>
              <a:rPr sz="1100" b="0">
                <a:solidFill>
                  <a:srgbClr val="5F6763"/>
                </a:solidFill>
                <a:latin typeface="Arial"/>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